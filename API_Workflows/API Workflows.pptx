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5" r:id="rId5"/>
    <p:sldId id="447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2C7DF-89B9-9F50-4F07-A72037376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0D5C2-7EFF-A348-4BA1-44EF27003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D2246-2CD7-3DA2-31DF-00B95DA2F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EFB7-5BC4-474E-8D2E-5616E9213E9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8ECD-F99D-C49C-E1DD-14A95CB8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1FCC1-3490-0E13-81BA-3B2D3C74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5E84-0427-4D0F-A6D0-8871CC15F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495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3006B-9B34-12EE-5EF5-6571E9B0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9B0D6-1DAD-A707-775A-E71196A64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250CC-CFAC-1A33-61E2-75F67C79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EFB7-5BC4-474E-8D2E-5616E9213E9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70D3B-8B22-B134-C623-85D27F555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6709E-8A3B-9D92-F855-05DA2B06F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5E84-0427-4D0F-A6D0-8871CC15F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8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E980-9DF0-EC2F-1889-BE254D41D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10098-9A01-FEDF-C9AC-EEAC7619D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D24BC-5158-5631-29F1-59EAF686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EFB7-5BC4-474E-8D2E-5616E9213E9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BBA65-D07E-3A19-D4C7-0CB249E2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100F9-9FBE-C307-D536-C74CF9C9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5E84-0427-4D0F-A6D0-8871CC15F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3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3B355-C917-573D-F728-384523FE5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4F2EB-CF9B-D491-8C8C-3903F4FA50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A1730-DFE8-C812-27AA-D253D389E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75BBB-328F-F319-7C54-8003A8A1F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EFB7-5BC4-474E-8D2E-5616E9213E9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AC646-DB2A-C2E3-35EE-2F53EFB80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09FEA-A2B0-8972-1FD7-65568D646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5E84-0427-4D0F-A6D0-8871CC15F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3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DA98A-64B1-4E8E-CB10-9A1337624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92E41-5877-0BE5-BAE1-0A11993DF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D1E78-521E-8548-07BD-7D5B03668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B74215-4BEF-1BE0-87BA-0FE5ABD48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C40693-4563-DF01-C4B4-22A22460D9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83E2DE-40B7-3EA2-E53E-CE2A45528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EFB7-5BC4-474E-8D2E-5616E9213E9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0002CE-C7C4-59B2-CEF7-F11DFC60E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48AF41-F757-7DA9-B0A1-158F3196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5E84-0427-4D0F-A6D0-8871CC15F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87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62EA6-EC7A-F1D4-C5FB-4E8306DF3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30A8DE-5FF2-5118-7751-53EDE6023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EFB7-5BC4-474E-8D2E-5616E9213E9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8A8C72-00F9-E4FD-1BE4-2A911C86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3A94D-8DFE-06D3-9123-0819A9BB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5E84-0427-4D0F-A6D0-8871CC15F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83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99A8CC-960E-8103-ABCC-1488BDED1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EFB7-5BC4-474E-8D2E-5616E9213E9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B70F91-B6CF-812F-FA6B-D5B2FEDBE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9B759-690E-771A-A5F8-F724FD62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5E84-0427-4D0F-A6D0-8871CC15F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82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A7F1B-5C8B-F2CF-EA27-589A7A233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BEBA0-7930-F947-18B6-93EDA9FA5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C516E-A73C-1F72-7390-9043EB074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C25EA-B7D5-AC0C-E58D-139A62B74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EFB7-5BC4-474E-8D2E-5616E9213E9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2969C-474E-5EB0-9DB0-83188F814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AF3CF-563C-AADF-784A-1BE0F2DA1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5E84-0427-4D0F-A6D0-8871CC15F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244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7BF4F-B36F-8F92-84CE-5A24CD824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26B06-6AE5-6481-5D24-947BD01822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EBB32-1133-8981-BEDA-7D7BD262A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DB51E-A993-BDC3-13B8-8186A8D5B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EFB7-5BC4-474E-8D2E-5616E9213E9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FEB6D-FE33-61C5-CC9E-3D05F0491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5FFC2-5E49-2967-ADE8-37CB690DD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5E84-0427-4D0F-A6D0-8871CC15F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7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9EA2-D25A-822A-331B-342AA5F02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88D8F-2582-721D-DC11-4DDF92642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9A2FF-463F-8CE9-CAB5-AB70563BE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EFB7-5BC4-474E-8D2E-5616E9213E9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843E9-E8A8-E019-152A-9C4174EF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4DE29-C0F6-C365-68BE-1D963B4D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5E84-0427-4D0F-A6D0-8871CC15F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8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73C0CF-4277-D5CC-F5B1-3C1E725C3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D1C8B6-0D6B-C8FB-12A5-1E1F44969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65132-6181-496A-5B62-19A784261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EFB7-5BC4-474E-8D2E-5616E9213E9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4A854-FE9E-EF42-E59C-19C3E8CF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5C212-70E1-997C-50F6-C06B9988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75E84-0427-4D0F-A6D0-8871CC15F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86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52825" y="3895725"/>
            <a:ext cx="2124075" cy="2124075"/>
          </a:xfrm>
          <a:custGeom>
            <a:avLst/>
            <a:gdLst/>
            <a:ahLst/>
            <a:cxnLst/>
            <a:rect l="l" t="t" r="r" b="b"/>
            <a:pathLst>
              <a:path w="2124075" h="2124075">
                <a:moveTo>
                  <a:pt x="1062101" y="0"/>
                </a:moveTo>
                <a:lnTo>
                  <a:pt x="1013481" y="1092"/>
                </a:lnTo>
                <a:lnTo>
                  <a:pt x="965423" y="4340"/>
                </a:lnTo>
                <a:lnTo>
                  <a:pt x="917973" y="9695"/>
                </a:lnTo>
                <a:lnTo>
                  <a:pt x="871178" y="17110"/>
                </a:lnTo>
                <a:lnTo>
                  <a:pt x="825085" y="26540"/>
                </a:lnTo>
                <a:lnTo>
                  <a:pt x="779741" y="37936"/>
                </a:lnTo>
                <a:lnTo>
                  <a:pt x="735193" y="51253"/>
                </a:lnTo>
                <a:lnTo>
                  <a:pt x="691487" y="66442"/>
                </a:lnTo>
                <a:lnTo>
                  <a:pt x="648670" y="83458"/>
                </a:lnTo>
                <a:lnTo>
                  <a:pt x="606789" y="102254"/>
                </a:lnTo>
                <a:lnTo>
                  <a:pt x="565892" y="122782"/>
                </a:lnTo>
                <a:lnTo>
                  <a:pt x="526024" y="144996"/>
                </a:lnTo>
                <a:lnTo>
                  <a:pt x="487233" y="168849"/>
                </a:lnTo>
                <a:lnTo>
                  <a:pt x="449566" y="194293"/>
                </a:lnTo>
                <a:lnTo>
                  <a:pt x="413069" y="221283"/>
                </a:lnTo>
                <a:lnTo>
                  <a:pt x="377790" y="249771"/>
                </a:lnTo>
                <a:lnTo>
                  <a:pt x="343774" y="279710"/>
                </a:lnTo>
                <a:lnTo>
                  <a:pt x="311070" y="311054"/>
                </a:lnTo>
                <a:lnTo>
                  <a:pt x="279724" y="343756"/>
                </a:lnTo>
                <a:lnTo>
                  <a:pt x="249782" y="377768"/>
                </a:lnTo>
                <a:lnTo>
                  <a:pt x="221292" y="413044"/>
                </a:lnTo>
                <a:lnTo>
                  <a:pt x="194301" y="449537"/>
                </a:lnTo>
                <a:lnTo>
                  <a:pt x="168855" y="487200"/>
                </a:lnTo>
                <a:lnTo>
                  <a:pt x="145001" y="525986"/>
                </a:lnTo>
                <a:lnTo>
                  <a:pt x="122786" y="565849"/>
                </a:lnTo>
                <a:lnTo>
                  <a:pt x="102257" y="606741"/>
                </a:lnTo>
                <a:lnTo>
                  <a:pt x="83460" y="648616"/>
                </a:lnTo>
                <a:lnTo>
                  <a:pt x="66444" y="691427"/>
                </a:lnTo>
                <a:lnTo>
                  <a:pt x="51253" y="735126"/>
                </a:lnTo>
                <a:lnTo>
                  <a:pt x="37937" y="779668"/>
                </a:lnTo>
                <a:lnTo>
                  <a:pt x="26540" y="825004"/>
                </a:lnTo>
                <a:lnTo>
                  <a:pt x="17110" y="871089"/>
                </a:lnTo>
                <a:lnTo>
                  <a:pt x="9695" y="917875"/>
                </a:lnTo>
                <a:lnTo>
                  <a:pt x="4340" y="965316"/>
                </a:lnTo>
                <a:lnTo>
                  <a:pt x="1092" y="1013364"/>
                </a:lnTo>
                <a:lnTo>
                  <a:pt x="0" y="1061974"/>
                </a:lnTo>
                <a:lnTo>
                  <a:pt x="1092" y="1110593"/>
                </a:lnTo>
                <a:lnTo>
                  <a:pt x="4340" y="1158651"/>
                </a:lnTo>
                <a:lnTo>
                  <a:pt x="9695" y="1206101"/>
                </a:lnTo>
                <a:lnTo>
                  <a:pt x="17110" y="1252896"/>
                </a:lnTo>
                <a:lnTo>
                  <a:pt x="26540" y="1298989"/>
                </a:lnTo>
                <a:lnTo>
                  <a:pt x="37937" y="1344333"/>
                </a:lnTo>
                <a:lnTo>
                  <a:pt x="51253" y="1388881"/>
                </a:lnTo>
                <a:lnTo>
                  <a:pt x="66444" y="1432587"/>
                </a:lnTo>
                <a:lnTo>
                  <a:pt x="83460" y="1475404"/>
                </a:lnTo>
                <a:lnTo>
                  <a:pt x="102257" y="1517285"/>
                </a:lnTo>
                <a:lnTo>
                  <a:pt x="122786" y="1558182"/>
                </a:lnTo>
                <a:lnTo>
                  <a:pt x="145001" y="1598050"/>
                </a:lnTo>
                <a:lnTo>
                  <a:pt x="168855" y="1636841"/>
                </a:lnTo>
                <a:lnTo>
                  <a:pt x="194301" y="1674508"/>
                </a:lnTo>
                <a:lnTo>
                  <a:pt x="221292" y="1711005"/>
                </a:lnTo>
                <a:lnTo>
                  <a:pt x="249782" y="1746284"/>
                </a:lnTo>
                <a:lnTo>
                  <a:pt x="279724" y="1780300"/>
                </a:lnTo>
                <a:lnTo>
                  <a:pt x="311070" y="1813004"/>
                </a:lnTo>
                <a:lnTo>
                  <a:pt x="343774" y="1844350"/>
                </a:lnTo>
                <a:lnTo>
                  <a:pt x="377790" y="1874292"/>
                </a:lnTo>
                <a:lnTo>
                  <a:pt x="413069" y="1902782"/>
                </a:lnTo>
                <a:lnTo>
                  <a:pt x="449566" y="1929773"/>
                </a:lnTo>
                <a:lnTo>
                  <a:pt x="487233" y="1955219"/>
                </a:lnTo>
                <a:lnTo>
                  <a:pt x="526024" y="1979073"/>
                </a:lnTo>
                <a:lnTo>
                  <a:pt x="565892" y="2001288"/>
                </a:lnTo>
                <a:lnTo>
                  <a:pt x="606789" y="2021817"/>
                </a:lnTo>
                <a:lnTo>
                  <a:pt x="648670" y="2040614"/>
                </a:lnTo>
                <a:lnTo>
                  <a:pt x="691487" y="2057630"/>
                </a:lnTo>
                <a:lnTo>
                  <a:pt x="735193" y="2072821"/>
                </a:lnTo>
                <a:lnTo>
                  <a:pt x="779741" y="2086137"/>
                </a:lnTo>
                <a:lnTo>
                  <a:pt x="825085" y="2097534"/>
                </a:lnTo>
                <a:lnTo>
                  <a:pt x="871178" y="2106964"/>
                </a:lnTo>
                <a:lnTo>
                  <a:pt x="917973" y="2114379"/>
                </a:lnTo>
                <a:lnTo>
                  <a:pt x="965423" y="2119734"/>
                </a:lnTo>
                <a:lnTo>
                  <a:pt x="1013481" y="2122982"/>
                </a:lnTo>
                <a:lnTo>
                  <a:pt x="1062101" y="2124075"/>
                </a:lnTo>
                <a:lnTo>
                  <a:pt x="1110710" y="2122982"/>
                </a:lnTo>
                <a:lnTo>
                  <a:pt x="1158758" y="2119734"/>
                </a:lnTo>
                <a:lnTo>
                  <a:pt x="1206199" y="2114379"/>
                </a:lnTo>
                <a:lnTo>
                  <a:pt x="1252985" y="2106964"/>
                </a:lnTo>
                <a:lnTo>
                  <a:pt x="1299070" y="2097534"/>
                </a:lnTo>
                <a:lnTo>
                  <a:pt x="1344406" y="2086137"/>
                </a:lnTo>
                <a:lnTo>
                  <a:pt x="1388948" y="2072821"/>
                </a:lnTo>
                <a:lnTo>
                  <a:pt x="1432647" y="2057630"/>
                </a:lnTo>
                <a:lnTo>
                  <a:pt x="1475458" y="2040614"/>
                </a:lnTo>
                <a:lnTo>
                  <a:pt x="1517333" y="2021817"/>
                </a:lnTo>
                <a:lnTo>
                  <a:pt x="1558225" y="2001288"/>
                </a:lnTo>
                <a:lnTo>
                  <a:pt x="1598088" y="1979073"/>
                </a:lnTo>
                <a:lnTo>
                  <a:pt x="1636874" y="1955219"/>
                </a:lnTo>
                <a:lnTo>
                  <a:pt x="1674537" y="1929773"/>
                </a:lnTo>
                <a:lnTo>
                  <a:pt x="1711030" y="1902782"/>
                </a:lnTo>
                <a:lnTo>
                  <a:pt x="1746306" y="1874292"/>
                </a:lnTo>
                <a:lnTo>
                  <a:pt x="1780318" y="1844350"/>
                </a:lnTo>
                <a:lnTo>
                  <a:pt x="1813020" y="1813004"/>
                </a:lnTo>
                <a:lnTo>
                  <a:pt x="1844364" y="1780300"/>
                </a:lnTo>
                <a:lnTo>
                  <a:pt x="1874303" y="1746284"/>
                </a:lnTo>
                <a:lnTo>
                  <a:pt x="1902791" y="1711005"/>
                </a:lnTo>
                <a:lnTo>
                  <a:pt x="1929781" y="1674508"/>
                </a:lnTo>
                <a:lnTo>
                  <a:pt x="1955225" y="1636841"/>
                </a:lnTo>
                <a:lnTo>
                  <a:pt x="1979078" y="1598050"/>
                </a:lnTo>
                <a:lnTo>
                  <a:pt x="2001292" y="1558182"/>
                </a:lnTo>
                <a:lnTo>
                  <a:pt x="2021820" y="1517285"/>
                </a:lnTo>
                <a:lnTo>
                  <a:pt x="2040616" y="1475404"/>
                </a:lnTo>
                <a:lnTo>
                  <a:pt x="2057632" y="1432587"/>
                </a:lnTo>
                <a:lnTo>
                  <a:pt x="2072821" y="1388881"/>
                </a:lnTo>
                <a:lnTo>
                  <a:pt x="2086138" y="1344333"/>
                </a:lnTo>
                <a:lnTo>
                  <a:pt x="2097534" y="1298989"/>
                </a:lnTo>
                <a:lnTo>
                  <a:pt x="2106964" y="1252896"/>
                </a:lnTo>
                <a:lnTo>
                  <a:pt x="2114379" y="1206101"/>
                </a:lnTo>
                <a:lnTo>
                  <a:pt x="2119734" y="1158651"/>
                </a:lnTo>
                <a:lnTo>
                  <a:pt x="2122982" y="1110593"/>
                </a:lnTo>
                <a:lnTo>
                  <a:pt x="2124075" y="1061974"/>
                </a:lnTo>
                <a:lnTo>
                  <a:pt x="2122982" y="1013364"/>
                </a:lnTo>
                <a:lnTo>
                  <a:pt x="2119734" y="965316"/>
                </a:lnTo>
                <a:lnTo>
                  <a:pt x="2114379" y="917875"/>
                </a:lnTo>
                <a:lnTo>
                  <a:pt x="2106964" y="871089"/>
                </a:lnTo>
                <a:lnTo>
                  <a:pt x="2097534" y="825004"/>
                </a:lnTo>
                <a:lnTo>
                  <a:pt x="2086138" y="779668"/>
                </a:lnTo>
                <a:lnTo>
                  <a:pt x="2072821" y="735126"/>
                </a:lnTo>
                <a:lnTo>
                  <a:pt x="2057632" y="691427"/>
                </a:lnTo>
                <a:lnTo>
                  <a:pt x="2040616" y="648616"/>
                </a:lnTo>
                <a:lnTo>
                  <a:pt x="2021820" y="606741"/>
                </a:lnTo>
                <a:lnTo>
                  <a:pt x="2001292" y="565849"/>
                </a:lnTo>
                <a:lnTo>
                  <a:pt x="1979078" y="525986"/>
                </a:lnTo>
                <a:lnTo>
                  <a:pt x="1955225" y="487200"/>
                </a:lnTo>
                <a:lnTo>
                  <a:pt x="1929781" y="449537"/>
                </a:lnTo>
                <a:lnTo>
                  <a:pt x="1902791" y="413044"/>
                </a:lnTo>
                <a:lnTo>
                  <a:pt x="1874303" y="377768"/>
                </a:lnTo>
                <a:lnTo>
                  <a:pt x="1844364" y="343756"/>
                </a:lnTo>
                <a:lnTo>
                  <a:pt x="1813020" y="311054"/>
                </a:lnTo>
                <a:lnTo>
                  <a:pt x="1780318" y="279710"/>
                </a:lnTo>
                <a:lnTo>
                  <a:pt x="1746306" y="249771"/>
                </a:lnTo>
                <a:lnTo>
                  <a:pt x="1711030" y="221283"/>
                </a:lnTo>
                <a:lnTo>
                  <a:pt x="1674537" y="194293"/>
                </a:lnTo>
                <a:lnTo>
                  <a:pt x="1636874" y="168849"/>
                </a:lnTo>
                <a:lnTo>
                  <a:pt x="1598088" y="144996"/>
                </a:lnTo>
                <a:lnTo>
                  <a:pt x="1558225" y="122782"/>
                </a:lnTo>
                <a:lnTo>
                  <a:pt x="1517333" y="102254"/>
                </a:lnTo>
                <a:lnTo>
                  <a:pt x="1475458" y="83458"/>
                </a:lnTo>
                <a:lnTo>
                  <a:pt x="1432647" y="66442"/>
                </a:lnTo>
                <a:lnTo>
                  <a:pt x="1388948" y="51253"/>
                </a:lnTo>
                <a:lnTo>
                  <a:pt x="1344406" y="37936"/>
                </a:lnTo>
                <a:lnTo>
                  <a:pt x="1299070" y="26540"/>
                </a:lnTo>
                <a:lnTo>
                  <a:pt x="1252985" y="17110"/>
                </a:lnTo>
                <a:lnTo>
                  <a:pt x="1206199" y="9695"/>
                </a:lnTo>
                <a:lnTo>
                  <a:pt x="1158758" y="4340"/>
                </a:lnTo>
                <a:lnTo>
                  <a:pt x="1110710" y="1092"/>
                </a:lnTo>
                <a:lnTo>
                  <a:pt x="1062101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24878" y="2181225"/>
            <a:ext cx="4067175" cy="4676775"/>
          </a:xfrm>
          <a:custGeom>
            <a:avLst/>
            <a:gdLst/>
            <a:ahLst/>
            <a:cxnLst/>
            <a:rect l="l" t="t" r="r" b="b"/>
            <a:pathLst>
              <a:path w="4067175" h="4676775">
                <a:moveTo>
                  <a:pt x="4067121" y="0"/>
                </a:moveTo>
                <a:lnTo>
                  <a:pt x="3864556" y="14477"/>
                </a:lnTo>
                <a:lnTo>
                  <a:pt x="3816088" y="19389"/>
                </a:lnTo>
                <a:lnTo>
                  <a:pt x="3767668" y="24851"/>
                </a:lnTo>
                <a:lnTo>
                  <a:pt x="3719301" y="30863"/>
                </a:lnTo>
                <a:lnTo>
                  <a:pt x="3670992" y="37425"/>
                </a:lnTo>
                <a:lnTo>
                  <a:pt x="3622747" y="44537"/>
                </a:lnTo>
                <a:lnTo>
                  <a:pt x="3574569" y="52199"/>
                </a:lnTo>
                <a:lnTo>
                  <a:pt x="3526465" y="60411"/>
                </a:lnTo>
                <a:lnTo>
                  <a:pt x="3478439" y="69174"/>
                </a:lnTo>
                <a:lnTo>
                  <a:pt x="3430497" y="78486"/>
                </a:lnTo>
                <a:lnTo>
                  <a:pt x="3382644" y="88349"/>
                </a:lnTo>
                <a:lnTo>
                  <a:pt x="3334884" y="98762"/>
                </a:lnTo>
                <a:lnTo>
                  <a:pt x="3287222" y="109725"/>
                </a:lnTo>
                <a:lnTo>
                  <a:pt x="3239665" y="121238"/>
                </a:lnTo>
                <a:lnTo>
                  <a:pt x="3192216" y="133301"/>
                </a:lnTo>
                <a:lnTo>
                  <a:pt x="3144881" y="145915"/>
                </a:lnTo>
                <a:lnTo>
                  <a:pt x="3097665" y="159078"/>
                </a:lnTo>
                <a:lnTo>
                  <a:pt x="3050574" y="172792"/>
                </a:lnTo>
                <a:lnTo>
                  <a:pt x="3003611" y="187056"/>
                </a:lnTo>
                <a:lnTo>
                  <a:pt x="2956783" y="201870"/>
                </a:lnTo>
                <a:lnTo>
                  <a:pt x="2910093" y="217234"/>
                </a:lnTo>
                <a:lnTo>
                  <a:pt x="2863549" y="233149"/>
                </a:lnTo>
                <a:lnTo>
                  <a:pt x="2817153" y="249614"/>
                </a:lnTo>
                <a:lnTo>
                  <a:pt x="2770912" y="266628"/>
                </a:lnTo>
                <a:lnTo>
                  <a:pt x="2724831" y="284193"/>
                </a:lnTo>
                <a:lnTo>
                  <a:pt x="2678914" y="302309"/>
                </a:lnTo>
                <a:lnTo>
                  <a:pt x="2633167" y="320974"/>
                </a:lnTo>
                <a:lnTo>
                  <a:pt x="2587595" y="340190"/>
                </a:lnTo>
                <a:lnTo>
                  <a:pt x="2542202" y="359955"/>
                </a:lnTo>
                <a:lnTo>
                  <a:pt x="2496995" y="380271"/>
                </a:lnTo>
                <a:lnTo>
                  <a:pt x="2451977" y="401138"/>
                </a:lnTo>
                <a:lnTo>
                  <a:pt x="2407155" y="422554"/>
                </a:lnTo>
                <a:lnTo>
                  <a:pt x="2362532" y="444521"/>
                </a:lnTo>
                <a:lnTo>
                  <a:pt x="2318115" y="467037"/>
                </a:lnTo>
                <a:lnTo>
                  <a:pt x="2273908" y="490105"/>
                </a:lnTo>
                <a:lnTo>
                  <a:pt x="2229917" y="513722"/>
                </a:lnTo>
                <a:lnTo>
                  <a:pt x="2186146" y="537889"/>
                </a:lnTo>
                <a:lnTo>
                  <a:pt x="2142600" y="562607"/>
                </a:lnTo>
                <a:lnTo>
                  <a:pt x="2099285" y="587875"/>
                </a:lnTo>
                <a:lnTo>
                  <a:pt x="2056206" y="613693"/>
                </a:lnTo>
                <a:lnTo>
                  <a:pt x="2013367" y="640062"/>
                </a:lnTo>
                <a:lnTo>
                  <a:pt x="1970774" y="666981"/>
                </a:lnTo>
                <a:lnTo>
                  <a:pt x="1928432" y="694450"/>
                </a:lnTo>
                <a:lnTo>
                  <a:pt x="1886346" y="722469"/>
                </a:lnTo>
                <a:lnTo>
                  <a:pt x="1844521" y="751039"/>
                </a:lnTo>
                <a:lnTo>
                  <a:pt x="1802962" y="780158"/>
                </a:lnTo>
                <a:lnTo>
                  <a:pt x="1761674" y="809828"/>
                </a:lnTo>
                <a:lnTo>
                  <a:pt x="1720662" y="840049"/>
                </a:lnTo>
                <a:lnTo>
                  <a:pt x="1679932" y="870819"/>
                </a:lnTo>
                <a:lnTo>
                  <a:pt x="1639488" y="902140"/>
                </a:lnTo>
                <a:lnTo>
                  <a:pt x="1599335" y="934011"/>
                </a:lnTo>
                <a:lnTo>
                  <a:pt x="1559479" y="966433"/>
                </a:lnTo>
                <a:lnTo>
                  <a:pt x="1519924" y="999405"/>
                </a:lnTo>
                <a:lnTo>
                  <a:pt x="1480676" y="1032927"/>
                </a:lnTo>
                <a:lnTo>
                  <a:pt x="1441740" y="1066999"/>
                </a:lnTo>
                <a:lnTo>
                  <a:pt x="1403121" y="1101622"/>
                </a:lnTo>
                <a:lnTo>
                  <a:pt x="1364823" y="1136795"/>
                </a:lnTo>
                <a:lnTo>
                  <a:pt x="1326853" y="1172518"/>
                </a:lnTo>
                <a:lnTo>
                  <a:pt x="1289214" y="1208792"/>
                </a:lnTo>
                <a:lnTo>
                  <a:pt x="1251912" y="1245615"/>
                </a:lnTo>
                <a:lnTo>
                  <a:pt x="1215594" y="1282322"/>
                </a:lnTo>
                <a:lnTo>
                  <a:pt x="1179810" y="1319355"/>
                </a:lnTo>
                <a:lnTo>
                  <a:pt x="1144561" y="1356711"/>
                </a:lnTo>
                <a:lnTo>
                  <a:pt x="1109846" y="1394384"/>
                </a:lnTo>
                <a:lnTo>
                  <a:pt x="1075666" y="1432369"/>
                </a:lnTo>
                <a:lnTo>
                  <a:pt x="1042020" y="1470662"/>
                </a:lnTo>
                <a:lnTo>
                  <a:pt x="1008910" y="1509258"/>
                </a:lnTo>
                <a:lnTo>
                  <a:pt x="976334" y="1548151"/>
                </a:lnTo>
                <a:lnTo>
                  <a:pt x="944292" y="1587338"/>
                </a:lnTo>
                <a:lnTo>
                  <a:pt x="912785" y="1626812"/>
                </a:lnTo>
                <a:lnTo>
                  <a:pt x="881813" y="1666571"/>
                </a:lnTo>
                <a:lnTo>
                  <a:pt x="851375" y="1706607"/>
                </a:lnTo>
                <a:lnTo>
                  <a:pt x="821472" y="1746917"/>
                </a:lnTo>
                <a:lnTo>
                  <a:pt x="792104" y="1787496"/>
                </a:lnTo>
                <a:lnTo>
                  <a:pt x="763270" y="1828339"/>
                </a:lnTo>
                <a:lnTo>
                  <a:pt x="734970" y="1869441"/>
                </a:lnTo>
                <a:lnTo>
                  <a:pt x="707206" y="1910798"/>
                </a:lnTo>
                <a:lnTo>
                  <a:pt x="679976" y="1952403"/>
                </a:lnTo>
                <a:lnTo>
                  <a:pt x="653280" y="1994254"/>
                </a:lnTo>
                <a:lnTo>
                  <a:pt x="627119" y="2036344"/>
                </a:lnTo>
                <a:lnTo>
                  <a:pt x="601493" y="2078669"/>
                </a:lnTo>
                <a:lnTo>
                  <a:pt x="576401" y="2121224"/>
                </a:lnTo>
                <a:lnTo>
                  <a:pt x="551844" y="2164004"/>
                </a:lnTo>
                <a:lnTo>
                  <a:pt x="527821" y="2207004"/>
                </a:lnTo>
                <a:lnTo>
                  <a:pt x="504333" y="2250220"/>
                </a:lnTo>
                <a:lnTo>
                  <a:pt x="481380" y="2293646"/>
                </a:lnTo>
                <a:lnTo>
                  <a:pt x="458961" y="2337278"/>
                </a:lnTo>
                <a:lnTo>
                  <a:pt x="437076" y="2381111"/>
                </a:lnTo>
                <a:lnTo>
                  <a:pt x="415727" y="2425141"/>
                </a:lnTo>
                <a:lnTo>
                  <a:pt x="394911" y="2469361"/>
                </a:lnTo>
                <a:lnTo>
                  <a:pt x="374631" y="2513768"/>
                </a:lnTo>
                <a:lnTo>
                  <a:pt x="354884" y="2558356"/>
                </a:lnTo>
                <a:lnTo>
                  <a:pt x="335673" y="2603121"/>
                </a:lnTo>
                <a:lnTo>
                  <a:pt x="316996" y="2648058"/>
                </a:lnTo>
                <a:lnTo>
                  <a:pt x="298853" y="2693162"/>
                </a:lnTo>
                <a:lnTo>
                  <a:pt x="281245" y="2738428"/>
                </a:lnTo>
                <a:lnTo>
                  <a:pt x="264172" y="2783851"/>
                </a:lnTo>
                <a:lnTo>
                  <a:pt x="247633" y="2829427"/>
                </a:lnTo>
                <a:lnTo>
                  <a:pt x="231628" y="2875150"/>
                </a:lnTo>
                <a:lnTo>
                  <a:pt x="216158" y="2921016"/>
                </a:lnTo>
                <a:lnTo>
                  <a:pt x="201223" y="2967020"/>
                </a:lnTo>
                <a:lnTo>
                  <a:pt x="186822" y="3013157"/>
                </a:lnTo>
                <a:lnTo>
                  <a:pt x="172955" y="3059422"/>
                </a:lnTo>
                <a:lnTo>
                  <a:pt x="159623" y="3105810"/>
                </a:lnTo>
                <a:lnTo>
                  <a:pt x="146826" y="3152317"/>
                </a:lnTo>
                <a:lnTo>
                  <a:pt x="134563" y="3198938"/>
                </a:lnTo>
                <a:lnTo>
                  <a:pt x="122835" y="3245667"/>
                </a:lnTo>
                <a:lnTo>
                  <a:pt x="111641" y="3292500"/>
                </a:lnTo>
                <a:lnTo>
                  <a:pt x="100981" y="3339433"/>
                </a:lnTo>
                <a:lnTo>
                  <a:pt x="90856" y="3386459"/>
                </a:lnTo>
                <a:lnTo>
                  <a:pt x="81266" y="3433576"/>
                </a:lnTo>
                <a:lnTo>
                  <a:pt x="72210" y="3480776"/>
                </a:lnTo>
                <a:lnTo>
                  <a:pt x="63688" y="3528057"/>
                </a:lnTo>
                <a:lnTo>
                  <a:pt x="55701" y="3575412"/>
                </a:lnTo>
                <a:lnTo>
                  <a:pt x="48249" y="3622837"/>
                </a:lnTo>
                <a:lnTo>
                  <a:pt x="41330" y="3670328"/>
                </a:lnTo>
                <a:lnTo>
                  <a:pt x="34947" y="3717878"/>
                </a:lnTo>
                <a:lnTo>
                  <a:pt x="29097" y="3765484"/>
                </a:lnTo>
                <a:lnTo>
                  <a:pt x="23783" y="3813141"/>
                </a:lnTo>
                <a:lnTo>
                  <a:pt x="19002" y="3860844"/>
                </a:lnTo>
                <a:lnTo>
                  <a:pt x="14756" y="3908587"/>
                </a:lnTo>
                <a:lnTo>
                  <a:pt x="11045" y="3956367"/>
                </a:lnTo>
                <a:lnTo>
                  <a:pt x="7868" y="4004178"/>
                </a:lnTo>
                <a:lnTo>
                  <a:pt x="5225" y="4052015"/>
                </a:lnTo>
                <a:lnTo>
                  <a:pt x="3117" y="4099874"/>
                </a:lnTo>
                <a:lnTo>
                  <a:pt x="1544" y="4147749"/>
                </a:lnTo>
                <a:lnTo>
                  <a:pt x="504" y="4195636"/>
                </a:lnTo>
                <a:lnTo>
                  <a:pt x="0" y="4243530"/>
                </a:lnTo>
                <a:lnTo>
                  <a:pt x="29" y="4291427"/>
                </a:lnTo>
                <a:lnTo>
                  <a:pt x="593" y="4339320"/>
                </a:lnTo>
                <a:lnTo>
                  <a:pt x="1691" y="4387206"/>
                </a:lnTo>
                <a:lnTo>
                  <a:pt x="3324" y="4435080"/>
                </a:lnTo>
                <a:lnTo>
                  <a:pt x="5491" y="4482937"/>
                </a:lnTo>
                <a:lnTo>
                  <a:pt x="8193" y="4530771"/>
                </a:lnTo>
                <a:lnTo>
                  <a:pt x="11429" y="4578578"/>
                </a:lnTo>
                <a:lnTo>
                  <a:pt x="15200" y="4626354"/>
                </a:lnTo>
                <a:lnTo>
                  <a:pt x="19504" y="4674093"/>
                </a:lnTo>
                <a:lnTo>
                  <a:pt x="2174059" y="4676775"/>
                </a:lnTo>
                <a:lnTo>
                  <a:pt x="2173170" y="4673165"/>
                </a:lnTo>
                <a:lnTo>
                  <a:pt x="2164591" y="4626076"/>
                </a:lnTo>
                <a:lnTo>
                  <a:pt x="2157071" y="4578840"/>
                </a:lnTo>
                <a:lnTo>
                  <a:pt x="2150611" y="4531479"/>
                </a:lnTo>
                <a:lnTo>
                  <a:pt x="2145209" y="4484010"/>
                </a:lnTo>
                <a:lnTo>
                  <a:pt x="2140867" y="4436453"/>
                </a:lnTo>
                <a:lnTo>
                  <a:pt x="2137584" y="4388827"/>
                </a:lnTo>
                <a:lnTo>
                  <a:pt x="2135360" y="4341152"/>
                </a:lnTo>
                <a:lnTo>
                  <a:pt x="2134196" y="4293446"/>
                </a:lnTo>
                <a:lnTo>
                  <a:pt x="2134091" y="4245728"/>
                </a:lnTo>
                <a:lnTo>
                  <a:pt x="2135045" y="4198018"/>
                </a:lnTo>
                <a:lnTo>
                  <a:pt x="2137058" y="4150335"/>
                </a:lnTo>
                <a:lnTo>
                  <a:pt x="2140131" y="4102697"/>
                </a:lnTo>
                <a:lnTo>
                  <a:pt x="2144263" y="4055124"/>
                </a:lnTo>
                <a:lnTo>
                  <a:pt x="2149454" y="4007636"/>
                </a:lnTo>
                <a:lnTo>
                  <a:pt x="2155705" y="3960250"/>
                </a:lnTo>
                <a:lnTo>
                  <a:pt x="2163016" y="3912987"/>
                </a:lnTo>
                <a:lnTo>
                  <a:pt x="2171385" y="3865865"/>
                </a:lnTo>
                <a:lnTo>
                  <a:pt x="2180815" y="3818904"/>
                </a:lnTo>
                <a:lnTo>
                  <a:pt x="2191303" y="3772122"/>
                </a:lnTo>
                <a:lnTo>
                  <a:pt x="2202852" y="3725540"/>
                </a:lnTo>
                <a:lnTo>
                  <a:pt x="2215459" y="3679175"/>
                </a:lnTo>
                <a:lnTo>
                  <a:pt x="2229127" y="3633047"/>
                </a:lnTo>
                <a:lnTo>
                  <a:pt x="2243853" y="3587175"/>
                </a:lnTo>
                <a:lnTo>
                  <a:pt x="2259640" y="3541579"/>
                </a:lnTo>
                <a:lnTo>
                  <a:pt x="2276486" y="3496277"/>
                </a:lnTo>
                <a:lnTo>
                  <a:pt x="2294391" y="3451288"/>
                </a:lnTo>
                <a:lnTo>
                  <a:pt x="2313357" y="3406632"/>
                </a:lnTo>
                <a:lnTo>
                  <a:pt x="2333382" y="3362328"/>
                </a:lnTo>
                <a:lnTo>
                  <a:pt x="2354466" y="3318395"/>
                </a:lnTo>
                <a:lnTo>
                  <a:pt x="2376610" y="3274851"/>
                </a:lnTo>
                <a:lnTo>
                  <a:pt x="2399814" y="3231717"/>
                </a:lnTo>
                <a:lnTo>
                  <a:pt x="2424078" y="3189011"/>
                </a:lnTo>
                <a:lnTo>
                  <a:pt x="2449402" y="3146753"/>
                </a:lnTo>
                <a:lnTo>
                  <a:pt x="2475785" y="3104961"/>
                </a:lnTo>
                <a:lnTo>
                  <a:pt x="2503228" y="3063654"/>
                </a:lnTo>
                <a:lnTo>
                  <a:pt x="2531731" y="3022852"/>
                </a:lnTo>
                <a:lnTo>
                  <a:pt x="2561293" y="2982575"/>
                </a:lnTo>
                <a:lnTo>
                  <a:pt x="2591916" y="2942840"/>
                </a:lnTo>
                <a:lnTo>
                  <a:pt x="2623598" y="2903667"/>
                </a:lnTo>
                <a:lnTo>
                  <a:pt x="2656340" y="2865075"/>
                </a:lnTo>
                <a:lnTo>
                  <a:pt x="2690142" y="2827084"/>
                </a:lnTo>
                <a:lnTo>
                  <a:pt x="2725004" y="2789712"/>
                </a:lnTo>
                <a:lnTo>
                  <a:pt x="2760926" y="2752979"/>
                </a:lnTo>
                <a:lnTo>
                  <a:pt x="2798886" y="2715975"/>
                </a:lnTo>
                <a:lnTo>
                  <a:pt x="2837525" y="2680098"/>
                </a:lnTo>
                <a:lnTo>
                  <a:pt x="2876823" y="2645348"/>
                </a:lnTo>
                <a:lnTo>
                  <a:pt x="2916759" y="2611725"/>
                </a:lnTo>
                <a:lnTo>
                  <a:pt x="2957312" y="2579228"/>
                </a:lnTo>
                <a:lnTo>
                  <a:pt x="2998461" y="2547858"/>
                </a:lnTo>
                <a:lnTo>
                  <a:pt x="3040184" y="2517615"/>
                </a:lnTo>
                <a:lnTo>
                  <a:pt x="3082460" y="2488499"/>
                </a:lnTo>
                <a:lnTo>
                  <a:pt x="3125270" y="2460510"/>
                </a:lnTo>
                <a:lnTo>
                  <a:pt x="3168590" y="2433648"/>
                </a:lnTo>
                <a:lnTo>
                  <a:pt x="3212401" y="2407912"/>
                </a:lnTo>
                <a:lnTo>
                  <a:pt x="3256682" y="2383304"/>
                </a:lnTo>
                <a:lnTo>
                  <a:pt x="3301410" y="2359823"/>
                </a:lnTo>
                <a:lnTo>
                  <a:pt x="3346566" y="2337469"/>
                </a:lnTo>
                <a:lnTo>
                  <a:pt x="3392127" y="2316243"/>
                </a:lnTo>
                <a:lnTo>
                  <a:pt x="3438074" y="2296143"/>
                </a:lnTo>
                <a:lnTo>
                  <a:pt x="3484385" y="2277171"/>
                </a:lnTo>
                <a:lnTo>
                  <a:pt x="3531039" y="2259327"/>
                </a:lnTo>
                <a:lnTo>
                  <a:pt x="3578014" y="2242609"/>
                </a:lnTo>
                <a:lnTo>
                  <a:pt x="3625290" y="2227020"/>
                </a:lnTo>
                <a:lnTo>
                  <a:pt x="3672846" y="2212557"/>
                </a:lnTo>
                <a:lnTo>
                  <a:pt x="3720661" y="2199223"/>
                </a:lnTo>
                <a:lnTo>
                  <a:pt x="3768713" y="2187016"/>
                </a:lnTo>
                <a:lnTo>
                  <a:pt x="3816981" y="2175936"/>
                </a:lnTo>
                <a:lnTo>
                  <a:pt x="3865445" y="2165985"/>
                </a:lnTo>
                <a:lnTo>
                  <a:pt x="4067121" y="2136902"/>
                </a:lnTo>
                <a:lnTo>
                  <a:pt x="4067121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8375" y="3895725"/>
            <a:ext cx="3733800" cy="2409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0522" y="1923161"/>
            <a:ext cx="7045959" cy="1605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23-Jul-26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803565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99" y="6761479"/>
            <a:ext cx="12188825" cy="96520"/>
          </a:xfrm>
          <a:custGeom>
            <a:avLst/>
            <a:gdLst/>
            <a:ahLst/>
            <a:cxnLst/>
            <a:rect l="l" t="t" r="r" b="b"/>
            <a:pathLst>
              <a:path w="12188825" h="96520">
                <a:moveTo>
                  <a:pt x="12188317" y="0"/>
                </a:moveTo>
                <a:lnTo>
                  <a:pt x="0" y="0"/>
                </a:lnTo>
                <a:lnTo>
                  <a:pt x="0" y="96519"/>
                </a:lnTo>
                <a:lnTo>
                  <a:pt x="12188317" y="96519"/>
                </a:lnTo>
                <a:lnTo>
                  <a:pt x="12188317" y="0"/>
                </a:lnTo>
                <a:close/>
              </a:path>
            </a:pathLst>
          </a:custGeom>
          <a:solidFill>
            <a:srgbClr val="F94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906505" y="438996"/>
            <a:ext cx="161925" cy="194945"/>
          </a:xfrm>
          <a:custGeom>
            <a:avLst/>
            <a:gdLst/>
            <a:ahLst/>
            <a:cxnLst/>
            <a:rect l="l" t="t" r="r" b="b"/>
            <a:pathLst>
              <a:path w="161925" h="194945">
                <a:moveTo>
                  <a:pt x="154908" y="0"/>
                </a:moveTo>
                <a:lnTo>
                  <a:pt x="144280" y="0"/>
                </a:lnTo>
                <a:lnTo>
                  <a:pt x="129720" y="0"/>
                </a:lnTo>
                <a:lnTo>
                  <a:pt x="123168" y="6566"/>
                </a:lnTo>
                <a:lnTo>
                  <a:pt x="123168" y="102036"/>
                </a:lnTo>
                <a:lnTo>
                  <a:pt x="120764" y="127838"/>
                </a:lnTo>
                <a:lnTo>
                  <a:pt x="113214" y="145391"/>
                </a:lnTo>
                <a:lnTo>
                  <a:pt x="100014" y="155404"/>
                </a:lnTo>
                <a:lnTo>
                  <a:pt x="80657" y="158584"/>
                </a:lnTo>
                <a:lnTo>
                  <a:pt x="61384" y="155380"/>
                </a:lnTo>
                <a:lnTo>
                  <a:pt x="48226" y="145304"/>
                </a:lnTo>
                <a:lnTo>
                  <a:pt x="40692" y="127658"/>
                </a:lnTo>
                <a:lnTo>
                  <a:pt x="38290" y="101745"/>
                </a:lnTo>
                <a:lnTo>
                  <a:pt x="38289" y="6566"/>
                </a:lnTo>
                <a:lnTo>
                  <a:pt x="31737" y="0"/>
                </a:lnTo>
                <a:lnTo>
                  <a:pt x="6551" y="0"/>
                </a:lnTo>
                <a:lnTo>
                  <a:pt x="0" y="6566"/>
                </a:lnTo>
                <a:lnTo>
                  <a:pt x="0" y="102036"/>
                </a:lnTo>
                <a:lnTo>
                  <a:pt x="5068" y="142298"/>
                </a:lnTo>
                <a:lnTo>
                  <a:pt x="20237" y="171192"/>
                </a:lnTo>
                <a:lnTo>
                  <a:pt x="45452" y="188609"/>
                </a:lnTo>
                <a:lnTo>
                  <a:pt x="80657" y="194439"/>
                </a:lnTo>
                <a:lnTo>
                  <a:pt x="115946" y="188609"/>
                </a:lnTo>
                <a:lnTo>
                  <a:pt x="141203" y="171192"/>
                </a:lnTo>
                <a:lnTo>
                  <a:pt x="156388" y="142298"/>
                </a:lnTo>
                <a:lnTo>
                  <a:pt x="161458" y="102036"/>
                </a:lnTo>
                <a:lnTo>
                  <a:pt x="161458" y="6566"/>
                </a:lnTo>
                <a:lnTo>
                  <a:pt x="154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066209" y="361327"/>
            <a:ext cx="112395" cy="272415"/>
          </a:xfrm>
          <a:custGeom>
            <a:avLst/>
            <a:gdLst/>
            <a:ahLst/>
            <a:cxnLst/>
            <a:rect l="l" t="t" r="r" b="b"/>
            <a:pathLst>
              <a:path w="112395" h="272415">
                <a:moveTo>
                  <a:pt x="67843" y="135978"/>
                </a:moveTo>
                <a:lnTo>
                  <a:pt x="61150" y="129146"/>
                </a:lnTo>
                <a:lnTo>
                  <a:pt x="50228" y="129146"/>
                </a:lnTo>
                <a:lnTo>
                  <a:pt x="36118" y="129146"/>
                </a:lnTo>
                <a:lnTo>
                  <a:pt x="29413" y="135978"/>
                </a:lnTo>
                <a:lnTo>
                  <a:pt x="29413" y="265264"/>
                </a:lnTo>
                <a:lnTo>
                  <a:pt x="36118" y="271970"/>
                </a:lnTo>
                <a:lnTo>
                  <a:pt x="61150" y="271970"/>
                </a:lnTo>
                <a:lnTo>
                  <a:pt x="67843" y="265264"/>
                </a:lnTo>
                <a:lnTo>
                  <a:pt x="67843" y="135978"/>
                </a:lnTo>
                <a:close/>
              </a:path>
              <a:path w="112395" h="272415">
                <a:moveTo>
                  <a:pt x="97256" y="62814"/>
                </a:moveTo>
                <a:lnTo>
                  <a:pt x="96824" y="62814"/>
                </a:lnTo>
                <a:lnTo>
                  <a:pt x="79603" y="57124"/>
                </a:lnTo>
                <a:lnTo>
                  <a:pt x="72948" y="52260"/>
                </a:lnTo>
                <a:lnTo>
                  <a:pt x="72948" y="62966"/>
                </a:lnTo>
                <a:lnTo>
                  <a:pt x="72948" y="63258"/>
                </a:lnTo>
                <a:lnTo>
                  <a:pt x="72796" y="63398"/>
                </a:lnTo>
                <a:lnTo>
                  <a:pt x="64109" y="66217"/>
                </a:lnTo>
                <a:lnTo>
                  <a:pt x="56908" y="71462"/>
                </a:lnTo>
                <a:lnTo>
                  <a:pt x="51638" y="78663"/>
                </a:lnTo>
                <a:lnTo>
                  <a:pt x="48768" y="87287"/>
                </a:lnTo>
                <a:lnTo>
                  <a:pt x="48768" y="87452"/>
                </a:lnTo>
                <a:lnTo>
                  <a:pt x="48475" y="87452"/>
                </a:lnTo>
                <a:lnTo>
                  <a:pt x="48475" y="87287"/>
                </a:lnTo>
                <a:lnTo>
                  <a:pt x="45605" y="78663"/>
                </a:lnTo>
                <a:lnTo>
                  <a:pt x="40360" y="71462"/>
                </a:lnTo>
                <a:lnTo>
                  <a:pt x="33210" y="66217"/>
                </a:lnTo>
                <a:lnTo>
                  <a:pt x="24612" y="63398"/>
                </a:lnTo>
                <a:lnTo>
                  <a:pt x="24320" y="63258"/>
                </a:lnTo>
                <a:lnTo>
                  <a:pt x="24320" y="62966"/>
                </a:lnTo>
                <a:lnTo>
                  <a:pt x="24612" y="62966"/>
                </a:lnTo>
                <a:lnTo>
                  <a:pt x="33210" y="60147"/>
                </a:lnTo>
                <a:lnTo>
                  <a:pt x="40360" y="54889"/>
                </a:lnTo>
                <a:lnTo>
                  <a:pt x="45605" y="47688"/>
                </a:lnTo>
                <a:lnTo>
                  <a:pt x="48475" y="39052"/>
                </a:lnTo>
                <a:lnTo>
                  <a:pt x="48475" y="38760"/>
                </a:lnTo>
                <a:lnTo>
                  <a:pt x="48768" y="38760"/>
                </a:lnTo>
                <a:lnTo>
                  <a:pt x="48768" y="39052"/>
                </a:lnTo>
                <a:lnTo>
                  <a:pt x="51638" y="47688"/>
                </a:lnTo>
                <a:lnTo>
                  <a:pt x="56908" y="54889"/>
                </a:lnTo>
                <a:lnTo>
                  <a:pt x="64109" y="60147"/>
                </a:lnTo>
                <a:lnTo>
                  <a:pt x="72796" y="62966"/>
                </a:lnTo>
                <a:lnTo>
                  <a:pt x="72948" y="62966"/>
                </a:lnTo>
                <a:lnTo>
                  <a:pt x="72948" y="52260"/>
                </a:lnTo>
                <a:lnTo>
                  <a:pt x="65252" y="46609"/>
                </a:lnTo>
                <a:lnTo>
                  <a:pt x="59537" y="38760"/>
                </a:lnTo>
                <a:lnTo>
                  <a:pt x="54749" y="32194"/>
                </a:lnTo>
                <a:lnTo>
                  <a:pt x="48920" y="14414"/>
                </a:lnTo>
                <a:lnTo>
                  <a:pt x="48348" y="14414"/>
                </a:lnTo>
                <a:lnTo>
                  <a:pt x="48348" y="14859"/>
                </a:lnTo>
                <a:lnTo>
                  <a:pt x="42659" y="32194"/>
                </a:lnTo>
                <a:lnTo>
                  <a:pt x="32143" y="46609"/>
                </a:lnTo>
                <a:lnTo>
                  <a:pt x="17754" y="57124"/>
                </a:lnTo>
                <a:lnTo>
                  <a:pt x="444" y="62814"/>
                </a:lnTo>
                <a:lnTo>
                  <a:pt x="0" y="62814"/>
                </a:lnTo>
                <a:lnTo>
                  <a:pt x="0" y="63398"/>
                </a:lnTo>
                <a:lnTo>
                  <a:pt x="17754" y="69227"/>
                </a:lnTo>
                <a:lnTo>
                  <a:pt x="32143" y="79743"/>
                </a:lnTo>
                <a:lnTo>
                  <a:pt x="42659" y="94107"/>
                </a:lnTo>
                <a:lnTo>
                  <a:pt x="48348" y="111340"/>
                </a:lnTo>
                <a:lnTo>
                  <a:pt x="48348" y="111785"/>
                </a:lnTo>
                <a:lnTo>
                  <a:pt x="48920" y="111785"/>
                </a:lnTo>
                <a:lnTo>
                  <a:pt x="79603" y="69227"/>
                </a:lnTo>
                <a:lnTo>
                  <a:pt x="96824" y="63550"/>
                </a:lnTo>
                <a:lnTo>
                  <a:pt x="97256" y="63398"/>
                </a:lnTo>
                <a:lnTo>
                  <a:pt x="97256" y="62814"/>
                </a:lnTo>
                <a:close/>
              </a:path>
              <a:path w="112395" h="272415">
                <a:moveTo>
                  <a:pt x="111810" y="24053"/>
                </a:moveTo>
                <a:lnTo>
                  <a:pt x="111518" y="24053"/>
                </a:lnTo>
                <a:lnTo>
                  <a:pt x="102895" y="21234"/>
                </a:lnTo>
                <a:lnTo>
                  <a:pt x="95707" y="15989"/>
                </a:lnTo>
                <a:lnTo>
                  <a:pt x="90462" y="8839"/>
                </a:lnTo>
                <a:lnTo>
                  <a:pt x="87642" y="292"/>
                </a:lnTo>
                <a:lnTo>
                  <a:pt x="87642" y="0"/>
                </a:lnTo>
                <a:lnTo>
                  <a:pt x="87223" y="0"/>
                </a:lnTo>
                <a:lnTo>
                  <a:pt x="87223" y="292"/>
                </a:lnTo>
                <a:lnTo>
                  <a:pt x="84404" y="8839"/>
                </a:lnTo>
                <a:lnTo>
                  <a:pt x="79146" y="15989"/>
                </a:lnTo>
                <a:lnTo>
                  <a:pt x="71958" y="21234"/>
                </a:lnTo>
                <a:lnTo>
                  <a:pt x="63322" y="24053"/>
                </a:lnTo>
                <a:lnTo>
                  <a:pt x="63030" y="24053"/>
                </a:lnTo>
                <a:lnTo>
                  <a:pt x="63030" y="24485"/>
                </a:lnTo>
                <a:lnTo>
                  <a:pt x="63322" y="24485"/>
                </a:lnTo>
                <a:lnTo>
                  <a:pt x="71958" y="27292"/>
                </a:lnTo>
                <a:lnTo>
                  <a:pt x="79146" y="32550"/>
                </a:lnTo>
                <a:lnTo>
                  <a:pt x="84404" y="39751"/>
                </a:lnTo>
                <a:lnTo>
                  <a:pt x="87223" y="48374"/>
                </a:lnTo>
                <a:lnTo>
                  <a:pt x="87223" y="48666"/>
                </a:lnTo>
                <a:lnTo>
                  <a:pt x="87642" y="48666"/>
                </a:lnTo>
                <a:lnTo>
                  <a:pt x="87642" y="48374"/>
                </a:lnTo>
                <a:lnTo>
                  <a:pt x="90462" y="39751"/>
                </a:lnTo>
                <a:lnTo>
                  <a:pt x="95707" y="32550"/>
                </a:lnTo>
                <a:lnTo>
                  <a:pt x="102895" y="27292"/>
                </a:lnTo>
                <a:lnTo>
                  <a:pt x="111518" y="24485"/>
                </a:lnTo>
                <a:lnTo>
                  <a:pt x="111810" y="24485"/>
                </a:lnTo>
                <a:lnTo>
                  <a:pt x="111810" y="24053"/>
                </a:lnTo>
                <a:close/>
              </a:path>
            </a:pathLst>
          </a:custGeom>
          <a:solidFill>
            <a:srgbClr val="F946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163618" y="439000"/>
            <a:ext cx="577850" cy="194945"/>
          </a:xfrm>
          <a:custGeom>
            <a:avLst/>
            <a:gdLst/>
            <a:ahLst/>
            <a:cxnLst/>
            <a:rect l="l" t="t" r="r" b="b"/>
            <a:pathLst>
              <a:path w="577850" h="194945">
                <a:moveTo>
                  <a:pt x="146316" y="69672"/>
                </a:moveTo>
                <a:lnTo>
                  <a:pt x="141160" y="37947"/>
                </a:lnTo>
                <a:lnTo>
                  <a:pt x="139268" y="35420"/>
                </a:lnTo>
                <a:lnTo>
                  <a:pt x="124929" y="16306"/>
                </a:lnTo>
                <a:lnTo>
                  <a:pt x="106997" y="8509"/>
                </a:lnTo>
                <a:lnTo>
                  <a:pt x="106997" y="69088"/>
                </a:lnTo>
                <a:lnTo>
                  <a:pt x="104546" y="85178"/>
                </a:lnTo>
                <a:lnTo>
                  <a:pt x="96481" y="95707"/>
                </a:lnTo>
                <a:lnTo>
                  <a:pt x="81699" y="101460"/>
                </a:lnTo>
                <a:lnTo>
                  <a:pt x="59093" y="103200"/>
                </a:lnTo>
                <a:lnTo>
                  <a:pt x="38722" y="103200"/>
                </a:lnTo>
                <a:lnTo>
                  <a:pt x="38722" y="35420"/>
                </a:lnTo>
                <a:lnTo>
                  <a:pt x="59093" y="35420"/>
                </a:lnTo>
                <a:lnTo>
                  <a:pt x="81699" y="37134"/>
                </a:lnTo>
                <a:lnTo>
                  <a:pt x="96481" y="42799"/>
                </a:lnTo>
                <a:lnTo>
                  <a:pt x="104546" y="53187"/>
                </a:lnTo>
                <a:lnTo>
                  <a:pt x="106997" y="69088"/>
                </a:lnTo>
                <a:lnTo>
                  <a:pt x="106997" y="8509"/>
                </a:lnTo>
                <a:lnTo>
                  <a:pt x="96494" y="3937"/>
                </a:lnTo>
                <a:lnTo>
                  <a:pt x="54724" y="0"/>
                </a:lnTo>
                <a:lnTo>
                  <a:pt x="6692" y="0"/>
                </a:lnTo>
                <a:lnTo>
                  <a:pt x="0" y="6705"/>
                </a:lnTo>
                <a:lnTo>
                  <a:pt x="0" y="187744"/>
                </a:lnTo>
                <a:lnTo>
                  <a:pt x="6692" y="194297"/>
                </a:lnTo>
                <a:lnTo>
                  <a:pt x="32181" y="194297"/>
                </a:lnTo>
                <a:lnTo>
                  <a:pt x="38722" y="187744"/>
                </a:lnTo>
                <a:lnTo>
                  <a:pt x="38722" y="139204"/>
                </a:lnTo>
                <a:lnTo>
                  <a:pt x="55016" y="139204"/>
                </a:lnTo>
                <a:lnTo>
                  <a:pt x="96685" y="135293"/>
                </a:lnTo>
                <a:lnTo>
                  <a:pt x="139827" y="103200"/>
                </a:lnTo>
                <a:lnTo>
                  <a:pt x="142100" y="95707"/>
                </a:lnTo>
                <a:lnTo>
                  <a:pt x="146316" y="69672"/>
                </a:lnTo>
                <a:close/>
              </a:path>
              <a:path w="577850" h="194945">
                <a:moveTo>
                  <a:pt x="307771" y="42570"/>
                </a:moveTo>
                <a:lnTo>
                  <a:pt x="301078" y="36004"/>
                </a:lnTo>
                <a:lnTo>
                  <a:pt x="276618" y="36004"/>
                </a:lnTo>
                <a:lnTo>
                  <a:pt x="270802" y="41833"/>
                </a:lnTo>
                <a:lnTo>
                  <a:pt x="270802" y="113538"/>
                </a:lnTo>
                <a:lnTo>
                  <a:pt x="267970" y="133223"/>
                </a:lnTo>
                <a:lnTo>
                  <a:pt x="259854" y="148094"/>
                </a:lnTo>
                <a:lnTo>
                  <a:pt x="247015" y="157492"/>
                </a:lnTo>
                <a:lnTo>
                  <a:pt x="230022" y="160769"/>
                </a:lnTo>
                <a:lnTo>
                  <a:pt x="212813" y="157492"/>
                </a:lnTo>
                <a:lnTo>
                  <a:pt x="199796" y="148094"/>
                </a:lnTo>
                <a:lnTo>
                  <a:pt x="191554" y="133223"/>
                </a:lnTo>
                <a:lnTo>
                  <a:pt x="188683" y="113538"/>
                </a:lnTo>
                <a:lnTo>
                  <a:pt x="191477" y="94132"/>
                </a:lnTo>
                <a:lnTo>
                  <a:pt x="191503" y="93954"/>
                </a:lnTo>
                <a:lnTo>
                  <a:pt x="199529" y="79298"/>
                </a:lnTo>
                <a:lnTo>
                  <a:pt x="199618" y="79133"/>
                </a:lnTo>
                <a:lnTo>
                  <a:pt x="212356" y="69799"/>
                </a:lnTo>
                <a:lnTo>
                  <a:pt x="212128" y="69799"/>
                </a:lnTo>
                <a:lnTo>
                  <a:pt x="229438" y="66471"/>
                </a:lnTo>
                <a:lnTo>
                  <a:pt x="246532" y="69799"/>
                </a:lnTo>
                <a:lnTo>
                  <a:pt x="259562" y="79298"/>
                </a:lnTo>
                <a:lnTo>
                  <a:pt x="267779" y="93954"/>
                </a:lnTo>
                <a:lnTo>
                  <a:pt x="267881" y="94132"/>
                </a:lnTo>
                <a:lnTo>
                  <a:pt x="270802" y="113538"/>
                </a:lnTo>
                <a:lnTo>
                  <a:pt x="270802" y="41833"/>
                </a:lnTo>
                <a:lnTo>
                  <a:pt x="270065" y="42570"/>
                </a:lnTo>
                <a:lnTo>
                  <a:pt x="270065" y="53352"/>
                </a:lnTo>
                <a:lnTo>
                  <a:pt x="260705" y="44856"/>
                </a:lnTo>
                <a:lnTo>
                  <a:pt x="249440" y="38544"/>
                </a:lnTo>
                <a:lnTo>
                  <a:pt x="236626" y="34607"/>
                </a:lnTo>
                <a:lnTo>
                  <a:pt x="222605" y="33248"/>
                </a:lnTo>
                <a:lnTo>
                  <a:pt x="207733" y="34607"/>
                </a:lnTo>
                <a:lnTo>
                  <a:pt x="208013" y="34607"/>
                </a:lnTo>
                <a:lnTo>
                  <a:pt x="194525" y="38544"/>
                </a:lnTo>
                <a:lnTo>
                  <a:pt x="162928" y="65519"/>
                </a:lnTo>
                <a:lnTo>
                  <a:pt x="150812" y="113538"/>
                </a:lnTo>
                <a:lnTo>
                  <a:pt x="152196" y="131432"/>
                </a:lnTo>
                <a:lnTo>
                  <a:pt x="172224" y="173748"/>
                </a:lnTo>
                <a:lnTo>
                  <a:pt x="208305" y="193078"/>
                </a:lnTo>
                <a:lnTo>
                  <a:pt x="222745" y="194437"/>
                </a:lnTo>
                <a:lnTo>
                  <a:pt x="236575" y="193078"/>
                </a:lnTo>
                <a:lnTo>
                  <a:pt x="249453" y="189090"/>
                </a:lnTo>
                <a:lnTo>
                  <a:pt x="260705" y="182765"/>
                </a:lnTo>
                <a:lnTo>
                  <a:pt x="270065" y="174332"/>
                </a:lnTo>
                <a:lnTo>
                  <a:pt x="270065" y="177977"/>
                </a:lnTo>
                <a:lnTo>
                  <a:pt x="270344" y="187744"/>
                </a:lnTo>
                <a:lnTo>
                  <a:pt x="270357" y="188175"/>
                </a:lnTo>
                <a:lnTo>
                  <a:pt x="276910" y="194437"/>
                </a:lnTo>
                <a:lnTo>
                  <a:pt x="301078" y="194437"/>
                </a:lnTo>
                <a:lnTo>
                  <a:pt x="307771" y="187744"/>
                </a:lnTo>
                <a:lnTo>
                  <a:pt x="307771" y="174332"/>
                </a:lnTo>
                <a:lnTo>
                  <a:pt x="307771" y="160769"/>
                </a:lnTo>
                <a:lnTo>
                  <a:pt x="307771" y="66471"/>
                </a:lnTo>
                <a:lnTo>
                  <a:pt x="307771" y="53352"/>
                </a:lnTo>
                <a:lnTo>
                  <a:pt x="307771" y="42570"/>
                </a:lnTo>
                <a:close/>
              </a:path>
              <a:path w="577850" h="194945">
                <a:moveTo>
                  <a:pt x="422198" y="180009"/>
                </a:moveTo>
                <a:lnTo>
                  <a:pt x="421767" y="174764"/>
                </a:lnTo>
                <a:lnTo>
                  <a:pt x="421195" y="169659"/>
                </a:lnTo>
                <a:lnTo>
                  <a:pt x="418122" y="162382"/>
                </a:lnTo>
                <a:lnTo>
                  <a:pt x="403428" y="162382"/>
                </a:lnTo>
                <a:lnTo>
                  <a:pt x="392023" y="161048"/>
                </a:lnTo>
                <a:lnTo>
                  <a:pt x="383984" y="155841"/>
                </a:lnTo>
                <a:lnTo>
                  <a:pt x="379222" y="144856"/>
                </a:lnTo>
                <a:lnTo>
                  <a:pt x="377659" y="126225"/>
                </a:lnTo>
                <a:lnTo>
                  <a:pt x="377659" y="67208"/>
                </a:lnTo>
                <a:lnTo>
                  <a:pt x="414337" y="67208"/>
                </a:lnTo>
                <a:lnTo>
                  <a:pt x="421030" y="61087"/>
                </a:lnTo>
                <a:lnTo>
                  <a:pt x="421030" y="41833"/>
                </a:lnTo>
                <a:lnTo>
                  <a:pt x="414337" y="35864"/>
                </a:lnTo>
                <a:lnTo>
                  <a:pt x="377799" y="35864"/>
                </a:lnTo>
                <a:lnTo>
                  <a:pt x="377799" y="6705"/>
                </a:lnTo>
                <a:lnTo>
                  <a:pt x="371094" y="0"/>
                </a:lnTo>
                <a:lnTo>
                  <a:pt x="346506" y="0"/>
                </a:lnTo>
                <a:lnTo>
                  <a:pt x="339788" y="6705"/>
                </a:lnTo>
                <a:lnTo>
                  <a:pt x="339788" y="35864"/>
                </a:lnTo>
                <a:lnTo>
                  <a:pt x="324358" y="35864"/>
                </a:lnTo>
                <a:lnTo>
                  <a:pt x="318541" y="41833"/>
                </a:lnTo>
                <a:lnTo>
                  <a:pt x="318541" y="61087"/>
                </a:lnTo>
                <a:lnTo>
                  <a:pt x="325107" y="67208"/>
                </a:lnTo>
                <a:lnTo>
                  <a:pt x="339788" y="67208"/>
                </a:lnTo>
                <a:lnTo>
                  <a:pt x="339788" y="129590"/>
                </a:lnTo>
                <a:lnTo>
                  <a:pt x="343192" y="158902"/>
                </a:lnTo>
                <a:lnTo>
                  <a:pt x="353809" y="179070"/>
                </a:lnTo>
                <a:lnTo>
                  <a:pt x="372237" y="190703"/>
                </a:lnTo>
                <a:lnTo>
                  <a:pt x="399059" y="194437"/>
                </a:lnTo>
                <a:lnTo>
                  <a:pt x="399199" y="194297"/>
                </a:lnTo>
                <a:lnTo>
                  <a:pt x="404304" y="194297"/>
                </a:lnTo>
                <a:lnTo>
                  <a:pt x="406920" y="194144"/>
                </a:lnTo>
                <a:lnTo>
                  <a:pt x="412165" y="193573"/>
                </a:lnTo>
                <a:lnTo>
                  <a:pt x="416090" y="191820"/>
                </a:lnTo>
                <a:lnTo>
                  <a:pt x="421195" y="185547"/>
                </a:lnTo>
                <a:lnTo>
                  <a:pt x="422198" y="180009"/>
                </a:lnTo>
                <a:close/>
              </a:path>
              <a:path w="577850" h="194945">
                <a:moveTo>
                  <a:pt x="577545" y="107289"/>
                </a:moveTo>
                <a:lnTo>
                  <a:pt x="573620" y="74777"/>
                </a:lnTo>
                <a:lnTo>
                  <a:pt x="561771" y="51701"/>
                </a:lnTo>
                <a:lnTo>
                  <a:pt x="541870" y="37934"/>
                </a:lnTo>
                <a:lnTo>
                  <a:pt x="513791" y="33375"/>
                </a:lnTo>
                <a:lnTo>
                  <a:pt x="499795" y="34772"/>
                </a:lnTo>
                <a:lnTo>
                  <a:pt x="487934" y="38569"/>
                </a:lnTo>
                <a:lnTo>
                  <a:pt x="478155" y="44259"/>
                </a:lnTo>
                <a:lnTo>
                  <a:pt x="470395" y="51308"/>
                </a:lnTo>
                <a:lnTo>
                  <a:pt x="470395" y="6705"/>
                </a:lnTo>
                <a:lnTo>
                  <a:pt x="463689" y="0"/>
                </a:lnTo>
                <a:lnTo>
                  <a:pt x="439242" y="0"/>
                </a:lnTo>
                <a:lnTo>
                  <a:pt x="432549" y="6705"/>
                </a:lnTo>
                <a:lnTo>
                  <a:pt x="432549" y="187744"/>
                </a:lnTo>
                <a:lnTo>
                  <a:pt x="439242" y="194297"/>
                </a:lnTo>
                <a:lnTo>
                  <a:pt x="463689" y="194297"/>
                </a:lnTo>
                <a:lnTo>
                  <a:pt x="470395" y="187744"/>
                </a:lnTo>
                <a:lnTo>
                  <a:pt x="470395" y="112953"/>
                </a:lnTo>
                <a:lnTo>
                  <a:pt x="473697" y="88468"/>
                </a:lnTo>
                <a:lnTo>
                  <a:pt x="482053" y="74676"/>
                </a:lnTo>
                <a:lnTo>
                  <a:pt x="493179" y="68580"/>
                </a:lnTo>
                <a:lnTo>
                  <a:pt x="504761" y="67208"/>
                </a:lnTo>
                <a:lnTo>
                  <a:pt x="520712" y="69583"/>
                </a:lnTo>
                <a:lnTo>
                  <a:pt x="531558" y="77101"/>
                </a:lnTo>
                <a:lnTo>
                  <a:pt x="537730" y="90258"/>
                </a:lnTo>
                <a:lnTo>
                  <a:pt x="539699" y="109613"/>
                </a:lnTo>
                <a:lnTo>
                  <a:pt x="539699" y="187744"/>
                </a:lnTo>
                <a:lnTo>
                  <a:pt x="546392" y="194297"/>
                </a:lnTo>
                <a:lnTo>
                  <a:pt x="570839" y="194297"/>
                </a:lnTo>
                <a:lnTo>
                  <a:pt x="577545" y="187744"/>
                </a:lnTo>
                <a:lnTo>
                  <a:pt x="577545" y="1072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506" y="728612"/>
            <a:ext cx="834659" cy="5057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7" y="4425"/>
            <a:ext cx="4870449" cy="68491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1F2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23-Jul-26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402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FD8157-9025-B137-6D72-13DDF868D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94FC7-BD15-E109-5D09-92932D9BE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D6C3D-CEFB-89DE-E7E7-0CEAE770D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7EFB7-5BC4-474E-8D2E-5616E9213E9A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513FE-5E14-06B0-7B45-8886C4417A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3E9C9-5FE3-26F6-D228-B2DBE8E25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75E84-0427-4D0F-A6D0-8871CC15F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56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70522" y="2417062"/>
            <a:ext cx="7045959" cy="617477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1015"/>
              </a:spcBef>
            </a:pPr>
            <a:r>
              <a:rPr lang="en-US" sz="3950" spc="-45" dirty="0">
                <a:solidFill>
                  <a:srgbClr val="57585B"/>
                </a:solidFill>
              </a:rPr>
              <a:t>UiPath API Workflows</a:t>
            </a:r>
            <a:endParaRPr sz="3950" dirty="0"/>
          </a:p>
        </p:txBody>
      </p:sp>
      <p:sp>
        <p:nvSpPr>
          <p:cNvPr id="4" name="object 4"/>
          <p:cNvSpPr txBox="1"/>
          <p:nvPr/>
        </p:nvSpPr>
        <p:spPr>
          <a:xfrm>
            <a:off x="5120259" y="6244653"/>
            <a:ext cx="6711315" cy="349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842770">
              <a:lnSpc>
                <a:spcPct val="133100"/>
              </a:lnSpc>
              <a:spcBef>
                <a:spcPts val="95"/>
              </a:spcBef>
            </a:pP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The</a:t>
            </a:r>
            <a:r>
              <a:rPr sz="800" spc="-1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UiPath</a:t>
            </a:r>
            <a:r>
              <a:rPr sz="800" spc="-1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word</a:t>
            </a:r>
            <a:r>
              <a:rPr sz="800" spc="-1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mark,</a:t>
            </a:r>
            <a:r>
              <a:rPr sz="800" spc="-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85858"/>
                </a:solidFill>
                <a:latin typeface="Arial MT"/>
                <a:cs typeface="Arial MT"/>
              </a:rPr>
              <a:t>logos,</a:t>
            </a:r>
            <a:r>
              <a:rPr sz="800" spc="-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and</a:t>
            </a:r>
            <a:r>
              <a:rPr sz="800" spc="-1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robots</a:t>
            </a:r>
            <a:r>
              <a:rPr sz="800" spc="-4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are</a:t>
            </a:r>
            <a:r>
              <a:rPr sz="800" spc="-10" dirty="0">
                <a:solidFill>
                  <a:srgbClr val="585858"/>
                </a:solidFill>
                <a:latin typeface="Arial MT"/>
                <a:cs typeface="Arial MT"/>
              </a:rPr>
              <a:t> registered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trademarks</a:t>
            </a:r>
            <a:r>
              <a:rPr sz="800" spc="3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85858"/>
                </a:solidFill>
                <a:latin typeface="Arial MT"/>
                <a:cs typeface="Arial MT"/>
              </a:rPr>
              <a:t>owned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by</a:t>
            </a:r>
            <a:r>
              <a:rPr sz="800" spc="3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UiPath,</a:t>
            </a:r>
            <a:r>
              <a:rPr sz="800" spc="-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Inc.</a:t>
            </a:r>
            <a:r>
              <a:rPr sz="800" spc="-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and</a:t>
            </a:r>
            <a:r>
              <a:rPr sz="800" spc="-1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its</a:t>
            </a:r>
            <a:r>
              <a:rPr sz="800" spc="-4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85858"/>
                </a:solidFill>
                <a:latin typeface="Arial MT"/>
                <a:cs typeface="Arial MT"/>
              </a:rPr>
              <a:t>affiliates.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UiPath (R)</a:t>
            </a:r>
            <a:r>
              <a:rPr sz="800" spc="3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is</a:t>
            </a:r>
            <a:r>
              <a:rPr sz="800" spc="4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a </a:t>
            </a:r>
            <a:r>
              <a:rPr sz="800" spc="-10" dirty="0">
                <a:solidFill>
                  <a:srgbClr val="585858"/>
                </a:solidFill>
                <a:latin typeface="Arial MT"/>
                <a:cs typeface="Arial MT"/>
              </a:rPr>
              <a:t>registered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 trademark</a:t>
            </a:r>
            <a:r>
              <a:rPr sz="800" spc="-3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in the United States</a:t>
            </a:r>
            <a:r>
              <a:rPr sz="800" spc="-3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and several</a:t>
            </a:r>
            <a:r>
              <a:rPr sz="800" spc="5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countries</a:t>
            </a:r>
            <a:r>
              <a:rPr sz="800" spc="-3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across</a:t>
            </a:r>
            <a:r>
              <a:rPr sz="800" spc="4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the globe.</a:t>
            </a:r>
            <a:r>
              <a:rPr sz="800" spc="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See TMEP</a:t>
            </a:r>
            <a:r>
              <a:rPr sz="800" spc="-1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906.</a:t>
            </a:r>
            <a:r>
              <a:rPr sz="800" spc="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©2024 </a:t>
            </a:r>
            <a:r>
              <a:rPr sz="800" spc="-10" dirty="0">
                <a:solidFill>
                  <a:srgbClr val="585858"/>
                </a:solidFill>
                <a:latin typeface="Arial MT"/>
                <a:cs typeface="Arial MT"/>
              </a:rPr>
              <a:t>UiPath.All</a:t>
            </a:r>
            <a:r>
              <a:rPr sz="800" spc="-3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85858"/>
                </a:solidFill>
                <a:latin typeface="Arial MT"/>
                <a:cs typeface="Arial MT"/>
              </a:rPr>
              <a:t>rights</a:t>
            </a:r>
            <a:r>
              <a:rPr sz="800" spc="4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85858"/>
                </a:solidFill>
                <a:latin typeface="Arial MT"/>
                <a:cs typeface="Arial MT"/>
              </a:rPr>
              <a:t>reserved.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62" y="281"/>
            <a:ext cx="5365750" cy="6829425"/>
            <a:chOff x="4762" y="281"/>
            <a:chExt cx="5365750" cy="6829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" y="281"/>
              <a:ext cx="5365495" cy="682929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88175" y="1696592"/>
              <a:ext cx="4044315" cy="0"/>
            </a:xfrm>
            <a:custGeom>
              <a:avLst/>
              <a:gdLst/>
              <a:ahLst/>
              <a:cxnLst/>
              <a:rect l="l" t="t" r="r" b="b"/>
              <a:pathLst>
                <a:path w="4044315">
                  <a:moveTo>
                    <a:pt x="0" y="0"/>
                  </a:moveTo>
                  <a:lnTo>
                    <a:pt x="4043921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60399" y="834383"/>
            <a:ext cx="373149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UiPath</a:t>
            </a:r>
            <a:r>
              <a:rPr sz="2400" b="1" spc="-9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sz="2400" b="1" spc="-3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2937" y="1921256"/>
            <a:ext cx="3977640" cy="3654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05"/>
              </a:spcBef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integration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Automation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Developers,</a:t>
            </a:r>
            <a:endParaRPr sz="1400">
              <a:latin typeface="Arial MT"/>
              <a:cs typeface="Arial MT"/>
            </a:endParaRPr>
          </a:p>
          <a:p>
            <a:pPr marL="297180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r>
              <a:rPr sz="14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Administrators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System</a:t>
            </a:r>
            <a:r>
              <a:rPr sz="1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Architects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 MT"/>
              <a:cs typeface="Arial MT"/>
            </a:endParaRPr>
          </a:p>
          <a:p>
            <a:pPr marL="297180" marR="205104" indent="-285115">
              <a:lnSpc>
                <a:spcPct val="100000"/>
              </a:lnSpc>
              <a:buFont typeface="Arial MT"/>
              <a:buChar char="•"/>
              <a:tabLst>
                <a:tab pos="297180" algn="l"/>
              </a:tabLst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System-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to-system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integration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with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efficiency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scale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zero-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touch</a:t>
            </a:r>
            <a:r>
              <a:rPr sz="1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runtime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FFFFFF"/>
              </a:buClr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297180" marR="205104" indent="-285115">
              <a:lnSpc>
                <a:spcPct val="100000"/>
              </a:lnSpc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Increase</a:t>
            </a:r>
            <a:r>
              <a:rPr sz="1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consistency</a:t>
            </a:r>
            <a:r>
              <a:rPr sz="1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keeping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synchronized</a:t>
            </a:r>
            <a:r>
              <a:rPr sz="1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across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applications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FFFFFF"/>
              </a:buClr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297180" marR="19875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Build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deterministic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business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logic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spans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multiple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systems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multi-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sz="1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processes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FFFFFF"/>
              </a:buClr>
              <a:buFont typeface="Arial MT"/>
              <a:buChar char="•"/>
            </a:pPr>
            <a:endParaRPr sz="1400">
              <a:latin typeface="Arial"/>
              <a:cs typeface="Arial"/>
            </a:endParaRPr>
          </a:p>
          <a:p>
            <a:pPr marL="297180" marR="367665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Abstract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complex</a:t>
            </a:r>
            <a:r>
              <a:rPr sz="14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chaining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manipulation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logic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composite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FFFFFF"/>
              </a:buClr>
              <a:buFont typeface="Arial MT"/>
              <a:buChar char="•"/>
            </a:pPr>
            <a:endParaRPr sz="1400">
              <a:latin typeface="Arial"/>
              <a:cs typeface="Arial"/>
            </a:endParaRPr>
          </a:p>
          <a:p>
            <a:pPr marL="297180" marR="5080" indent="-285115">
              <a:lnSpc>
                <a:spcPct val="100000"/>
              </a:lnSpc>
              <a:spcBef>
                <a:spcPts val="5"/>
              </a:spcBef>
              <a:buChar char="•"/>
              <a:tabLst>
                <a:tab pos="297180" algn="l"/>
              </a:tabLst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Unlock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sophisticated</a:t>
            </a:r>
            <a:r>
              <a:rPr sz="1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orchestration</a:t>
            </a:r>
            <a:r>
              <a:rPr sz="1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agentic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patterns</a:t>
            </a:r>
            <a:r>
              <a:rPr sz="1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power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UiPath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Platform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74389" y="509663"/>
            <a:ext cx="6811009" cy="6226810"/>
            <a:chOff x="3874389" y="509663"/>
            <a:chExt cx="6811009" cy="6226810"/>
          </a:xfrm>
        </p:grpSpPr>
        <p:pic>
          <p:nvPicPr>
            <p:cNvPr id="8" name="object 8" descr="A screenshot of a computer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23511" y="574078"/>
              <a:ext cx="4903845" cy="572356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691251" y="514426"/>
              <a:ext cx="4989195" cy="5829300"/>
            </a:xfrm>
            <a:custGeom>
              <a:avLst/>
              <a:gdLst/>
              <a:ahLst/>
              <a:cxnLst/>
              <a:rect l="l" t="t" r="r" b="b"/>
              <a:pathLst>
                <a:path w="4989195" h="5829300">
                  <a:moveTo>
                    <a:pt x="0" y="5829173"/>
                  </a:moveTo>
                  <a:lnTo>
                    <a:pt x="4988814" y="5829173"/>
                  </a:lnTo>
                  <a:lnTo>
                    <a:pt x="4988814" y="0"/>
                  </a:lnTo>
                  <a:lnTo>
                    <a:pt x="0" y="0"/>
                  </a:lnTo>
                  <a:lnTo>
                    <a:pt x="0" y="5829173"/>
                  </a:lnTo>
                  <a:close/>
                </a:path>
              </a:pathLst>
            </a:custGeom>
            <a:ln w="9525">
              <a:solidFill>
                <a:srgbClr val="171F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A cartoon character wearing goggles and a hat  Description automatically generated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74389" y="5367841"/>
              <a:ext cx="2482215" cy="136855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316594" y="6311900"/>
            <a:ext cx="370268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b="1" spc="-105" dirty="0">
                <a:solidFill>
                  <a:srgbClr val="0AA1B3"/>
                </a:solidFill>
                <a:latin typeface="Arial"/>
                <a:cs typeface="Arial"/>
              </a:rPr>
              <a:t>Lightweight.</a:t>
            </a:r>
            <a:r>
              <a:rPr sz="2350" b="1" spc="-190" dirty="0">
                <a:solidFill>
                  <a:srgbClr val="0AA1B3"/>
                </a:solidFill>
                <a:latin typeface="Arial"/>
                <a:cs typeface="Arial"/>
              </a:rPr>
              <a:t> </a:t>
            </a:r>
            <a:r>
              <a:rPr sz="2350" b="1" spc="-95" dirty="0">
                <a:solidFill>
                  <a:srgbClr val="F94616"/>
                </a:solidFill>
                <a:latin typeface="Arial"/>
                <a:cs typeface="Arial"/>
              </a:rPr>
              <a:t>Fast.</a:t>
            </a:r>
            <a:r>
              <a:rPr sz="2350" b="1" spc="-150" dirty="0">
                <a:solidFill>
                  <a:srgbClr val="F94616"/>
                </a:solidFill>
                <a:latin typeface="Arial"/>
                <a:cs typeface="Arial"/>
              </a:rPr>
              <a:t> </a:t>
            </a:r>
            <a:r>
              <a:rPr sz="2350" b="1" spc="-10" dirty="0">
                <a:solidFill>
                  <a:srgbClr val="F4A700"/>
                </a:solidFill>
                <a:latin typeface="Arial"/>
                <a:cs typeface="Arial"/>
              </a:rPr>
              <a:t>Scalable</a:t>
            </a:r>
            <a:r>
              <a:rPr sz="2350" b="1" spc="-10" dirty="0">
                <a:solidFill>
                  <a:srgbClr val="FFC000"/>
                </a:solidFill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38" y="1203960"/>
            <a:ext cx="12176125" cy="1364615"/>
            <a:chOff x="7938" y="1203960"/>
            <a:chExt cx="12176125" cy="1364615"/>
          </a:xfrm>
        </p:grpSpPr>
        <p:sp>
          <p:nvSpPr>
            <p:cNvPr id="3" name="object 3"/>
            <p:cNvSpPr/>
            <p:nvPr/>
          </p:nvSpPr>
          <p:spPr>
            <a:xfrm>
              <a:off x="7938" y="1203960"/>
              <a:ext cx="12176125" cy="1364615"/>
            </a:xfrm>
            <a:custGeom>
              <a:avLst/>
              <a:gdLst/>
              <a:ahLst/>
              <a:cxnLst/>
              <a:rect l="l" t="t" r="r" b="b"/>
              <a:pathLst>
                <a:path w="12176125" h="1364614">
                  <a:moveTo>
                    <a:pt x="12176125" y="0"/>
                  </a:moveTo>
                  <a:lnTo>
                    <a:pt x="0" y="0"/>
                  </a:lnTo>
                  <a:lnTo>
                    <a:pt x="0" y="1364488"/>
                  </a:lnTo>
                  <a:lnTo>
                    <a:pt x="12176125" y="1364488"/>
                  </a:lnTo>
                  <a:lnTo>
                    <a:pt x="12176125" y="0"/>
                  </a:lnTo>
                  <a:close/>
                </a:path>
              </a:pathLst>
            </a:custGeom>
            <a:solidFill>
              <a:srgbClr val="F94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57218" y="1444498"/>
              <a:ext cx="3946525" cy="868044"/>
            </a:xfrm>
            <a:custGeom>
              <a:avLst/>
              <a:gdLst/>
              <a:ahLst/>
              <a:cxnLst/>
              <a:rect l="l" t="t" r="r" b="b"/>
              <a:pathLst>
                <a:path w="3946525" h="868044">
                  <a:moveTo>
                    <a:pt x="3946143" y="26035"/>
                  </a:moveTo>
                  <a:lnTo>
                    <a:pt x="3946143" y="867917"/>
                  </a:lnTo>
                </a:path>
                <a:path w="3946525" h="868044">
                  <a:moveTo>
                    <a:pt x="0" y="0"/>
                  </a:moveTo>
                  <a:lnTo>
                    <a:pt x="0" y="851407"/>
                  </a:lnTo>
                </a:path>
              </a:pathLst>
            </a:custGeom>
            <a:ln w="9525">
              <a:solidFill>
                <a:srgbClr val="171F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27841" y="521051"/>
            <a:ext cx="10515600" cy="426142"/>
          </a:xfrm>
          <a:prstGeom prst="rect">
            <a:avLst/>
          </a:prstGeom>
        </p:spPr>
        <p:txBody>
          <a:bodyPr vert="horz" wrap="square" lIns="0" tIns="56261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sz="2400" b="1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55" dirty="0">
                <a:latin typeface="Arial" panose="020B0604020202020204" pitchFamily="34" charset="0"/>
                <a:cs typeface="Arial" panose="020B0604020202020204" pitchFamily="34" charset="0"/>
              </a:rPr>
              <a:t>capabilities</a:t>
            </a:r>
            <a:r>
              <a:rPr sz="2400" b="1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35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400" b="1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40" dirty="0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sz="2400" b="1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25" dirty="0">
                <a:latin typeface="Arial" panose="020B0604020202020204" pitchFamily="34" charset="0"/>
                <a:cs typeface="Arial" panose="020B0604020202020204" pitchFamily="34" charset="0"/>
              </a:rPr>
              <a:t>Workflows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2769" y="1442974"/>
            <a:ext cx="2640330" cy="678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4676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Build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Purpose-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fit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designer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for</a:t>
            </a:r>
            <a:r>
              <a:rPr sz="1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integration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54371" y="1446402"/>
            <a:ext cx="2824480" cy="655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0419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Deploy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Lightweight,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fast,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scalable</a:t>
            </a:r>
            <a:r>
              <a:rPr sz="1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zero-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touch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7188" y="1450594"/>
            <a:ext cx="2290445" cy="671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Consume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Real-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time,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event-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execution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98051" y="3329914"/>
            <a:ext cx="2571750" cy="62357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UiPath</a:t>
            </a:r>
            <a:r>
              <a:rPr sz="1100" spc="-5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71F23"/>
                </a:solidFill>
                <a:latin typeface="Arial MT"/>
                <a:cs typeface="Arial MT"/>
              </a:rPr>
              <a:t>Platform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Power</a:t>
            </a:r>
            <a:r>
              <a:rPr sz="11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your</a:t>
            </a:r>
            <a:r>
              <a:rPr sz="11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agentic</a:t>
            </a:r>
            <a:r>
              <a:rPr sz="1100" spc="-5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creations</a:t>
            </a:r>
            <a:r>
              <a:rPr sz="1100" spc="-5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with</a:t>
            </a:r>
            <a:r>
              <a:rPr sz="1100" spc="-2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71F23"/>
                </a:solidFill>
                <a:latin typeface="Arial MT"/>
                <a:cs typeface="Arial MT"/>
              </a:rPr>
              <a:t>secure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and</a:t>
            </a:r>
            <a:r>
              <a:rPr sz="11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deterministic</a:t>
            </a:r>
            <a:r>
              <a:rPr sz="1100" spc="-4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API</a:t>
            </a:r>
            <a:r>
              <a:rPr sz="11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71F23"/>
                </a:solidFill>
                <a:latin typeface="Arial MT"/>
                <a:cs typeface="Arial MT"/>
              </a:rPr>
              <a:t>integration.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15704" y="5310035"/>
            <a:ext cx="2316480" cy="58229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Consume</a:t>
            </a:r>
            <a:r>
              <a:rPr sz="1200" spc="-5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as</a:t>
            </a:r>
            <a:r>
              <a:rPr sz="1200" spc="-7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API</a:t>
            </a:r>
            <a:r>
              <a:rPr sz="1200" spc="-10" dirty="0">
                <a:solidFill>
                  <a:srgbClr val="171F23"/>
                </a:solidFill>
                <a:latin typeface="Arial MT"/>
                <a:cs typeface="Arial MT"/>
              </a:rPr>
              <a:t> endpoint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Initiate</a:t>
            </a:r>
            <a:r>
              <a:rPr sz="1100" spc="-4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API</a:t>
            </a:r>
            <a:r>
              <a:rPr sz="11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workflows</a:t>
            </a:r>
            <a:r>
              <a:rPr sz="11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as</a:t>
            </a:r>
            <a:r>
              <a:rPr sz="11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an</a:t>
            </a:r>
            <a:r>
              <a:rPr sz="11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API</a:t>
            </a:r>
            <a:r>
              <a:rPr sz="11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71F23"/>
                </a:solidFill>
                <a:latin typeface="Arial MT"/>
                <a:cs typeface="Arial MT"/>
              </a:rPr>
              <a:t>from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your</a:t>
            </a:r>
            <a:r>
              <a:rPr sz="11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custom</a:t>
            </a:r>
            <a:r>
              <a:rPr sz="1100" spc="-5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enterprise</a:t>
            </a:r>
            <a:r>
              <a:rPr sz="1100" spc="-6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71F23"/>
                </a:solidFill>
                <a:latin typeface="Arial MT"/>
                <a:cs typeface="Arial MT"/>
              </a:rPr>
              <a:t>applications.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0311" y="3487877"/>
            <a:ext cx="17094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The</a:t>
            </a:r>
            <a:r>
              <a:rPr sz="12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right</a:t>
            </a:r>
            <a:r>
              <a:rPr sz="1200" spc="-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tools</a:t>
            </a:r>
            <a:r>
              <a:rPr sz="12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for</a:t>
            </a:r>
            <a:r>
              <a:rPr sz="1200" spc="-1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the</a:t>
            </a:r>
            <a:r>
              <a:rPr sz="1200" spc="-1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171F23"/>
                </a:solidFill>
                <a:latin typeface="Arial MT"/>
                <a:cs typeface="Arial MT"/>
              </a:rPr>
              <a:t>job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0311" y="3930523"/>
            <a:ext cx="2885440" cy="18395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00"/>
              </a:spcBef>
              <a:buClr>
                <a:srgbClr val="F94616"/>
              </a:buClr>
              <a:buFont typeface="Wingdings"/>
              <a:buChar char=""/>
              <a:tabLst>
                <a:tab pos="297815" algn="l"/>
              </a:tabLst>
            </a:pP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Define</a:t>
            </a:r>
            <a:r>
              <a:rPr sz="1200" spc="-2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your</a:t>
            </a:r>
            <a:r>
              <a:rPr sz="1200" spc="-5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request</a:t>
            </a:r>
            <a:r>
              <a:rPr sz="1200" spc="-2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71F23"/>
                </a:solidFill>
                <a:latin typeface="Arial MT"/>
                <a:cs typeface="Arial MT"/>
              </a:rPr>
              <a:t>payload</a:t>
            </a:r>
            <a:endParaRPr sz="12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600"/>
              </a:spcBef>
              <a:buClr>
                <a:srgbClr val="F94616"/>
              </a:buClr>
              <a:buFont typeface="Wingdings"/>
              <a:buChar char=""/>
              <a:tabLst>
                <a:tab pos="297815" algn="l"/>
              </a:tabLst>
            </a:pP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Integrate</a:t>
            </a:r>
            <a:r>
              <a:rPr sz="12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using</a:t>
            </a:r>
            <a:r>
              <a:rPr sz="1200" spc="-4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any</a:t>
            </a:r>
            <a:r>
              <a:rPr sz="12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71F23"/>
                </a:solidFill>
                <a:latin typeface="Arial MT"/>
                <a:cs typeface="Arial MT"/>
              </a:rPr>
              <a:t>connector</a:t>
            </a:r>
            <a:endParaRPr sz="12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600"/>
              </a:spcBef>
              <a:buClr>
                <a:srgbClr val="F94616"/>
              </a:buClr>
              <a:buFont typeface="Wingdings"/>
              <a:buChar char=""/>
              <a:tabLst>
                <a:tab pos="297815" algn="l"/>
              </a:tabLst>
            </a:pP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Execute</a:t>
            </a:r>
            <a:r>
              <a:rPr sz="12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raw</a:t>
            </a:r>
            <a:r>
              <a:rPr sz="12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HTTP</a:t>
            </a:r>
            <a:r>
              <a:rPr sz="1200" spc="-4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171F23"/>
                </a:solidFill>
                <a:latin typeface="Arial MT"/>
                <a:cs typeface="Arial MT"/>
              </a:rPr>
              <a:t>calls</a:t>
            </a:r>
            <a:endParaRPr sz="12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600"/>
              </a:spcBef>
              <a:buClr>
                <a:srgbClr val="F94616"/>
              </a:buClr>
              <a:buFont typeface="Wingdings"/>
              <a:buChar char=""/>
              <a:tabLst>
                <a:tab pos="297815" algn="l"/>
              </a:tabLst>
            </a:pP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Manipulate</a:t>
            </a:r>
            <a:r>
              <a:rPr sz="12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your</a:t>
            </a:r>
            <a:r>
              <a:rPr sz="1200" spc="-6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data</a:t>
            </a:r>
            <a:r>
              <a:rPr sz="1200" spc="-4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using</a:t>
            </a:r>
            <a:r>
              <a:rPr sz="12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71F23"/>
                </a:solidFill>
                <a:latin typeface="Arial MT"/>
                <a:cs typeface="Arial MT"/>
              </a:rPr>
              <a:t>JavaScript</a:t>
            </a:r>
            <a:endParaRPr sz="12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600"/>
              </a:spcBef>
              <a:buClr>
                <a:srgbClr val="F94616"/>
              </a:buClr>
              <a:buFont typeface="Wingdings"/>
              <a:buChar char=""/>
              <a:tabLst>
                <a:tab pos="297815" algn="l"/>
              </a:tabLst>
            </a:pP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Debug</a:t>
            </a:r>
            <a:r>
              <a:rPr sz="1200" spc="-4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with</a:t>
            </a:r>
            <a:r>
              <a:rPr sz="1200" spc="-1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raw</a:t>
            </a:r>
            <a:r>
              <a:rPr sz="12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payload</a:t>
            </a:r>
            <a:r>
              <a:rPr sz="1200" spc="-4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71F23"/>
                </a:solidFill>
                <a:latin typeface="Arial MT"/>
                <a:cs typeface="Arial MT"/>
              </a:rPr>
              <a:t>visibility</a:t>
            </a:r>
            <a:endParaRPr sz="12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600"/>
              </a:spcBef>
              <a:buClr>
                <a:srgbClr val="F94616"/>
              </a:buClr>
              <a:buFont typeface="Wingdings"/>
              <a:buChar char=""/>
              <a:tabLst>
                <a:tab pos="297815" algn="l"/>
              </a:tabLst>
            </a:pP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Generate</a:t>
            </a:r>
            <a:r>
              <a:rPr sz="1200" spc="-5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your</a:t>
            </a:r>
            <a:r>
              <a:rPr sz="1200" spc="-2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response</a:t>
            </a:r>
            <a:r>
              <a:rPr sz="1200" spc="-6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71F23"/>
                </a:solidFill>
                <a:latin typeface="Arial MT"/>
                <a:cs typeface="Arial MT"/>
              </a:rPr>
              <a:t>payloads</a:t>
            </a:r>
            <a:endParaRPr sz="1200">
              <a:latin typeface="Arial MT"/>
              <a:cs typeface="Arial MT"/>
            </a:endParaRPr>
          </a:p>
          <a:p>
            <a:pPr marL="297815" indent="-285115">
              <a:lnSpc>
                <a:spcPct val="100000"/>
              </a:lnSpc>
              <a:spcBef>
                <a:spcPts val="600"/>
              </a:spcBef>
              <a:buClr>
                <a:srgbClr val="F94616"/>
              </a:buClr>
              <a:buFont typeface="Wingdings"/>
              <a:buChar char=""/>
              <a:tabLst>
                <a:tab pos="297815" algn="l"/>
              </a:tabLst>
            </a:pP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Build</a:t>
            </a:r>
            <a:r>
              <a:rPr sz="12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with</a:t>
            </a:r>
            <a:r>
              <a:rPr sz="1200" spc="-7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Autopilot</a:t>
            </a:r>
            <a:r>
              <a:rPr sz="1200" spc="-4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for</a:t>
            </a:r>
            <a:r>
              <a:rPr sz="12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71F23"/>
                </a:solidFill>
                <a:latin typeface="Arial MT"/>
                <a:cs typeface="Arial MT"/>
              </a:rPr>
              <a:t>Developers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936675" y="4540366"/>
            <a:ext cx="250825" cy="254635"/>
            <a:chOff x="8936675" y="4540366"/>
            <a:chExt cx="250825" cy="25463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1501" y="4540366"/>
              <a:ext cx="140580" cy="14065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36675" y="4710328"/>
              <a:ext cx="250233" cy="84160"/>
            </a:xfrm>
            <a:prstGeom prst="rect">
              <a:avLst/>
            </a:prstGeom>
          </p:spPr>
        </p:pic>
      </p:grpSp>
      <p:pic>
        <p:nvPicPr>
          <p:cNvPr id="16" name="object 16" descr="A logo with orange and black lines  Description automatically generated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46785" y="3527191"/>
            <a:ext cx="292741" cy="28095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292590" y="4335260"/>
            <a:ext cx="2602865" cy="61150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200" spc="-10" dirty="0">
                <a:solidFill>
                  <a:srgbClr val="171F23"/>
                </a:solidFill>
                <a:latin typeface="Arial MT"/>
                <a:cs typeface="Arial MT"/>
              </a:rPr>
              <a:t>Event-</a:t>
            </a:r>
            <a:r>
              <a:rPr sz="1200" dirty="0">
                <a:solidFill>
                  <a:srgbClr val="171F23"/>
                </a:solidFill>
                <a:latin typeface="Arial MT"/>
                <a:cs typeface="Arial MT"/>
              </a:rPr>
              <a:t>driven</a:t>
            </a:r>
            <a:r>
              <a:rPr sz="1200" spc="-2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71F23"/>
                </a:solidFill>
                <a:latin typeface="Arial MT"/>
                <a:cs typeface="Arial MT"/>
              </a:rPr>
              <a:t>initiation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59"/>
              </a:spcBef>
            </a:pP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Execute</a:t>
            </a:r>
            <a:r>
              <a:rPr sz="11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based</a:t>
            </a:r>
            <a:r>
              <a:rPr sz="11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on</a:t>
            </a:r>
            <a:r>
              <a:rPr sz="11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events</a:t>
            </a:r>
            <a:r>
              <a:rPr sz="11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happening</a:t>
            </a:r>
            <a:r>
              <a:rPr sz="11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in</a:t>
            </a:r>
            <a:r>
              <a:rPr sz="11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171F23"/>
                </a:solidFill>
                <a:latin typeface="Arial MT"/>
                <a:cs typeface="Arial MT"/>
              </a:rPr>
              <a:t>a </a:t>
            </a:r>
            <a:r>
              <a:rPr sz="1100" spc="-10" dirty="0">
                <a:solidFill>
                  <a:srgbClr val="171F23"/>
                </a:solidFill>
                <a:latin typeface="Arial MT"/>
                <a:cs typeface="Arial MT"/>
              </a:rPr>
              <a:t>third-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party</a:t>
            </a:r>
            <a:r>
              <a:rPr sz="1100" spc="-7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applications</a:t>
            </a:r>
            <a:r>
              <a:rPr sz="1100" spc="-1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1F23"/>
                </a:solidFill>
                <a:latin typeface="Arial MT"/>
                <a:cs typeface="Arial MT"/>
              </a:rPr>
              <a:t>(polling,</a:t>
            </a:r>
            <a:r>
              <a:rPr sz="11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71F23"/>
                </a:solidFill>
                <a:latin typeface="Arial MT"/>
                <a:cs typeface="Arial MT"/>
              </a:rPr>
              <a:t>webhook)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8" name="object 18" descr="A black and orange logo  AI-generated content may be incorrect.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33884" y="5532501"/>
            <a:ext cx="277470" cy="256161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5076918" y="3647353"/>
            <a:ext cx="2037714" cy="2038985"/>
            <a:chOff x="5076918" y="3647353"/>
            <a:chExt cx="2037714" cy="2038985"/>
          </a:xfrm>
        </p:grpSpPr>
        <p:sp>
          <p:nvSpPr>
            <p:cNvPr id="20" name="object 20"/>
            <p:cNvSpPr/>
            <p:nvPr/>
          </p:nvSpPr>
          <p:spPr>
            <a:xfrm>
              <a:off x="5785641" y="4356467"/>
              <a:ext cx="620395" cy="621030"/>
            </a:xfrm>
            <a:custGeom>
              <a:avLst/>
              <a:gdLst/>
              <a:ahLst/>
              <a:cxnLst/>
              <a:rect l="l" t="t" r="r" b="b"/>
              <a:pathLst>
                <a:path w="620395" h="621029">
                  <a:moveTo>
                    <a:pt x="310066" y="0"/>
                  </a:moveTo>
                  <a:lnTo>
                    <a:pt x="264246" y="3363"/>
                  </a:lnTo>
                  <a:lnTo>
                    <a:pt x="220513" y="13134"/>
                  </a:lnTo>
                  <a:lnTo>
                    <a:pt x="179348" y="28833"/>
                  </a:lnTo>
                  <a:lnTo>
                    <a:pt x="141229" y="49979"/>
                  </a:lnTo>
                  <a:lnTo>
                    <a:pt x="106638" y="76094"/>
                  </a:lnTo>
                  <a:lnTo>
                    <a:pt x="76052" y="106696"/>
                  </a:lnTo>
                  <a:lnTo>
                    <a:pt x="49952" y="141307"/>
                  </a:lnTo>
                  <a:lnTo>
                    <a:pt x="28817" y="179446"/>
                  </a:lnTo>
                  <a:lnTo>
                    <a:pt x="13127" y="220634"/>
                  </a:lnTo>
                  <a:lnTo>
                    <a:pt x="3361" y="264391"/>
                  </a:lnTo>
                  <a:lnTo>
                    <a:pt x="0" y="310237"/>
                  </a:lnTo>
                  <a:lnTo>
                    <a:pt x="3275" y="354900"/>
                  </a:lnTo>
                  <a:lnTo>
                    <a:pt x="3361" y="356083"/>
                  </a:lnTo>
                  <a:lnTo>
                    <a:pt x="13127" y="399839"/>
                  </a:lnTo>
                  <a:lnTo>
                    <a:pt x="28817" y="441027"/>
                  </a:lnTo>
                  <a:lnTo>
                    <a:pt x="49952" y="479166"/>
                  </a:lnTo>
                  <a:lnTo>
                    <a:pt x="76052" y="513777"/>
                  </a:lnTo>
                  <a:lnTo>
                    <a:pt x="106638" y="544380"/>
                  </a:lnTo>
                  <a:lnTo>
                    <a:pt x="141229" y="570494"/>
                  </a:lnTo>
                  <a:lnTo>
                    <a:pt x="179348" y="591641"/>
                  </a:lnTo>
                  <a:lnTo>
                    <a:pt x="220513" y="607339"/>
                  </a:lnTo>
                  <a:lnTo>
                    <a:pt x="264246" y="617110"/>
                  </a:lnTo>
                  <a:lnTo>
                    <a:pt x="310066" y="620474"/>
                  </a:lnTo>
                  <a:lnTo>
                    <a:pt x="355887" y="617110"/>
                  </a:lnTo>
                  <a:lnTo>
                    <a:pt x="399619" y="607339"/>
                  </a:lnTo>
                  <a:lnTo>
                    <a:pt x="440785" y="591641"/>
                  </a:lnTo>
                  <a:lnTo>
                    <a:pt x="478903" y="570494"/>
                  </a:lnTo>
                  <a:lnTo>
                    <a:pt x="513495" y="544380"/>
                  </a:lnTo>
                  <a:lnTo>
                    <a:pt x="526033" y="531835"/>
                  </a:lnTo>
                  <a:lnTo>
                    <a:pt x="310066" y="531835"/>
                  </a:lnTo>
                  <a:lnTo>
                    <a:pt x="265428" y="527333"/>
                  </a:lnTo>
                  <a:lnTo>
                    <a:pt x="223853" y="514422"/>
                  </a:lnTo>
                  <a:lnTo>
                    <a:pt x="186232" y="493992"/>
                  </a:lnTo>
                  <a:lnTo>
                    <a:pt x="153455" y="466934"/>
                  </a:lnTo>
                  <a:lnTo>
                    <a:pt x="126412" y="434139"/>
                  </a:lnTo>
                  <a:lnTo>
                    <a:pt x="105993" y="396497"/>
                  </a:lnTo>
                  <a:lnTo>
                    <a:pt x="93089" y="354900"/>
                  </a:lnTo>
                  <a:lnTo>
                    <a:pt x="88590" y="310237"/>
                  </a:lnTo>
                  <a:lnTo>
                    <a:pt x="93089" y="265581"/>
                  </a:lnTo>
                  <a:lnTo>
                    <a:pt x="105993" y="223987"/>
                  </a:lnTo>
                  <a:lnTo>
                    <a:pt x="126412" y="186345"/>
                  </a:lnTo>
                  <a:lnTo>
                    <a:pt x="153455" y="153548"/>
                  </a:lnTo>
                  <a:lnTo>
                    <a:pt x="186232" y="126488"/>
                  </a:lnTo>
                  <a:lnTo>
                    <a:pt x="223853" y="106055"/>
                  </a:lnTo>
                  <a:lnTo>
                    <a:pt x="265428" y="93141"/>
                  </a:lnTo>
                  <a:lnTo>
                    <a:pt x="310066" y="88639"/>
                  </a:lnTo>
                  <a:lnTo>
                    <a:pt x="526033" y="88639"/>
                  </a:lnTo>
                  <a:lnTo>
                    <a:pt x="513495" y="76094"/>
                  </a:lnTo>
                  <a:lnTo>
                    <a:pt x="478903" y="49979"/>
                  </a:lnTo>
                  <a:lnTo>
                    <a:pt x="440785" y="28833"/>
                  </a:lnTo>
                  <a:lnTo>
                    <a:pt x="399619" y="13134"/>
                  </a:lnTo>
                  <a:lnTo>
                    <a:pt x="355887" y="3363"/>
                  </a:lnTo>
                  <a:lnTo>
                    <a:pt x="310066" y="0"/>
                  </a:lnTo>
                  <a:close/>
                </a:path>
                <a:path w="620395" h="621029">
                  <a:moveTo>
                    <a:pt x="526033" y="88639"/>
                  </a:moveTo>
                  <a:lnTo>
                    <a:pt x="310066" y="88639"/>
                  </a:lnTo>
                  <a:lnTo>
                    <a:pt x="354704" y="93141"/>
                  </a:lnTo>
                  <a:lnTo>
                    <a:pt x="396279" y="106055"/>
                  </a:lnTo>
                  <a:lnTo>
                    <a:pt x="433900" y="126488"/>
                  </a:lnTo>
                  <a:lnTo>
                    <a:pt x="466678" y="153548"/>
                  </a:lnTo>
                  <a:lnTo>
                    <a:pt x="493721" y="186345"/>
                  </a:lnTo>
                  <a:lnTo>
                    <a:pt x="514139" y="223987"/>
                  </a:lnTo>
                  <a:lnTo>
                    <a:pt x="527043" y="265581"/>
                  </a:lnTo>
                  <a:lnTo>
                    <a:pt x="531542" y="310237"/>
                  </a:lnTo>
                  <a:lnTo>
                    <a:pt x="527043" y="354900"/>
                  </a:lnTo>
                  <a:lnTo>
                    <a:pt x="514139" y="396497"/>
                  </a:lnTo>
                  <a:lnTo>
                    <a:pt x="493721" y="434139"/>
                  </a:lnTo>
                  <a:lnTo>
                    <a:pt x="466678" y="466934"/>
                  </a:lnTo>
                  <a:lnTo>
                    <a:pt x="433900" y="493992"/>
                  </a:lnTo>
                  <a:lnTo>
                    <a:pt x="396279" y="514422"/>
                  </a:lnTo>
                  <a:lnTo>
                    <a:pt x="354704" y="527333"/>
                  </a:lnTo>
                  <a:lnTo>
                    <a:pt x="310066" y="531835"/>
                  </a:lnTo>
                  <a:lnTo>
                    <a:pt x="526033" y="531835"/>
                  </a:lnTo>
                  <a:lnTo>
                    <a:pt x="570181" y="479167"/>
                  </a:lnTo>
                  <a:lnTo>
                    <a:pt x="591315" y="441027"/>
                  </a:lnTo>
                  <a:lnTo>
                    <a:pt x="607005" y="399839"/>
                  </a:lnTo>
                  <a:lnTo>
                    <a:pt x="616771" y="356083"/>
                  </a:lnTo>
                  <a:lnTo>
                    <a:pt x="620133" y="310237"/>
                  </a:lnTo>
                  <a:lnTo>
                    <a:pt x="616858" y="265581"/>
                  </a:lnTo>
                  <a:lnTo>
                    <a:pt x="616771" y="264391"/>
                  </a:lnTo>
                  <a:lnTo>
                    <a:pt x="607005" y="220634"/>
                  </a:lnTo>
                  <a:lnTo>
                    <a:pt x="591315" y="179446"/>
                  </a:lnTo>
                  <a:lnTo>
                    <a:pt x="570180" y="141307"/>
                  </a:lnTo>
                  <a:lnTo>
                    <a:pt x="544080" y="106696"/>
                  </a:lnTo>
                  <a:lnTo>
                    <a:pt x="526033" y="88639"/>
                  </a:lnTo>
                  <a:close/>
                </a:path>
              </a:pathLst>
            </a:custGeom>
            <a:solidFill>
              <a:srgbClr val="F94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76914" y="3647363"/>
              <a:ext cx="2037714" cy="2038985"/>
            </a:xfrm>
            <a:custGeom>
              <a:avLst/>
              <a:gdLst/>
              <a:ahLst/>
              <a:cxnLst/>
              <a:rect l="l" t="t" r="r" b="b"/>
              <a:pathLst>
                <a:path w="2037715" h="2038985">
                  <a:moveTo>
                    <a:pt x="695756" y="1405242"/>
                  </a:moveTo>
                  <a:lnTo>
                    <a:pt x="633095" y="1342555"/>
                  </a:lnTo>
                  <a:lnTo>
                    <a:pt x="531545" y="1444180"/>
                  </a:lnTo>
                  <a:lnTo>
                    <a:pt x="531545" y="1728457"/>
                  </a:lnTo>
                  <a:lnTo>
                    <a:pt x="527037" y="1773123"/>
                  </a:lnTo>
                  <a:lnTo>
                    <a:pt x="514134" y="1814715"/>
                  </a:lnTo>
                  <a:lnTo>
                    <a:pt x="493725" y="1852358"/>
                  </a:lnTo>
                  <a:lnTo>
                    <a:pt x="466674" y="1885162"/>
                  </a:lnTo>
                  <a:lnTo>
                    <a:pt x="433895" y="1912213"/>
                  </a:lnTo>
                  <a:lnTo>
                    <a:pt x="396278" y="1932647"/>
                  </a:lnTo>
                  <a:lnTo>
                    <a:pt x="354698" y="1945551"/>
                  </a:lnTo>
                  <a:lnTo>
                    <a:pt x="310070" y="1950059"/>
                  </a:lnTo>
                  <a:lnTo>
                    <a:pt x="265430" y="1945551"/>
                  </a:lnTo>
                  <a:lnTo>
                    <a:pt x="223850" y="1932647"/>
                  </a:lnTo>
                  <a:lnTo>
                    <a:pt x="186232" y="1912213"/>
                  </a:lnTo>
                  <a:lnTo>
                    <a:pt x="153454" y="1885162"/>
                  </a:lnTo>
                  <a:lnTo>
                    <a:pt x="126415" y="1852358"/>
                  </a:lnTo>
                  <a:lnTo>
                    <a:pt x="105994" y="1814715"/>
                  </a:lnTo>
                  <a:lnTo>
                    <a:pt x="93091" y="1773123"/>
                  </a:lnTo>
                  <a:lnTo>
                    <a:pt x="88582" y="1728457"/>
                  </a:lnTo>
                  <a:lnTo>
                    <a:pt x="93091" y="1683804"/>
                  </a:lnTo>
                  <a:lnTo>
                    <a:pt x="105994" y="1642211"/>
                  </a:lnTo>
                  <a:lnTo>
                    <a:pt x="126415" y="1604568"/>
                  </a:lnTo>
                  <a:lnTo>
                    <a:pt x="153454" y="1571777"/>
                  </a:lnTo>
                  <a:lnTo>
                    <a:pt x="186232" y="1544713"/>
                  </a:lnTo>
                  <a:lnTo>
                    <a:pt x="223850" y="1524279"/>
                  </a:lnTo>
                  <a:lnTo>
                    <a:pt x="265430" y="1511363"/>
                  </a:lnTo>
                  <a:lnTo>
                    <a:pt x="310070" y="1506867"/>
                  </a:lnTo>
                  <a:lnTo>
                    <a:pt x="354698" y="1511363"/>
                  </a:lnTo>
                  <a:lnTo>
                    <a:pt x="396278" y="1524279"/>
                  </a:lnTo>
                  <a:lnTo>
                    <a:pt x="433895" y="1544713"/>
                  </a:lnTo>
                  <a:lnTo>
                    <a:pt x="466674" y="1571777"/>
                  </a:lnTo>
                  <a:lnTo>
                    <a:pt x="493725" y="1604568"/>
                  </a:lnTo>
                  <a:lnTo>
                    <a:pt x="514134" y="1642211"/>
                  </a:lnTo>
                  <a:lnTo>
                    <a:pt x="527037" y="1683804"/>
                  </a:lnTo>
                  <a:lnTo>
                    <a:pt x="531545" y="1728457"/>
                  </a:lnTo>
                  <a:lnTo>
                    <a:pt x="531545" y="1444180"/>
                  </a:lnTo>
                  <a:lnTo>
                    <a:pt x="495211" y="1480527"/>
                  </a:lnTo>
                  <a:lnTo>
                    <a:pt x="478904" y="1468208"/>
                  </a:lnTo>
                  <a:lnTo>
                    <a:pt x="440778" y="1447050"/>
                  </a:lnTo>
                  <a:lnTo>
                    <a:pt x="399618" y="1431353"/>
                  </a:lnTo>
                  <a:lnTo>
                    <a:pt x="355879" y="1421587"/>
                  </a:lnTo>
                  <a:lnTo>
                    <a:pt x="310070" y="1418221"/>
                  </a:lnTo>
                  <a:lnTo>
                    <a:pt x="264248" y="1421587"/>
                  </a:lnTo>
                  <a:lnTo>
                    <a:pt x="220510" y="1431353"/>
                  </a:lnTo>
                  <a:lnTo>
                    <a:pt x="179349" y="1447050"/>
                  </a:lnTo>
                  <a:lnTo>
                    <a:pt x="141224" y="1468208"/>
                  </a:lnTo>
                  <a:lnTo>
                    <a:pt x="106641" y="1494320"/>
                  </a:lnTo>
                  <a:lnTo>
                    <a:pt x="76047" y="1524914"/>
                  </a:lnTo>
                  <a:lnTo>
                    <a:pt x="49949" y="1559534"/>
                  </a:lnTo>
                  <a:lnTo>
                    <a:pt x="28816" y="1597672"/>
                  </a:lnTo>
                  <a:lnTo>
                    <a:pt x="13131" y="1638858"/>
                  </a:lnTo>
                  <a:lnTo>
                    <a:pt x="3365" y="1682610"/>
                  </a:lnTo>
                  <a:lnTo>
                    <a:pt x="0" y="1728457"/>
                  </a:lnTo>
                  <a:lnTo>
                    <a:pt x="3276" y="1773123"/>
                  </a:lnTo>
                  <a:lnTo>
                    <a:pt x="13131" y="1818068"/>
                  </a:lnTo>
                  <a:lnTo>
                    <a:pt x="28816" y="1859254"/>
                  </a:lnTo>
                  <a:lnTo>
                    <a:pt x="49949" y="1897392"/>
                  </a:lnTo>
                  <a:lnTo>
                    <a:pt x="76047" y="1932000"/>
                  </a:lnTo>
                  <a:lnTo>
                    <a:pt x="106641" y="1962607"/>
                  </a:lnTo>
                  <a:lnTo>
                    <a:pt x="141224" y="1988718"/>
                  </a:lnTo>
                  <a:lnTo>
                    <a:pt x="179349" y="2009863"/>
                  </a:lnTo>
                  <a:lnTo>
                    <a:pt x="220510" y="2025561"/>
                  </a:lnTo>
                  <a:lnTo>
                    <a:pt x="264248" y="2035340"/>
                  </a:lnTo>
                  <a:lnTo>
                    <a:pt x="310070" y="2038692"/>
                  </a:lnTo>
                  <a:lnTo>
                    <a:pt x="355879" y="2035340"/>
                  </a:lnTo>
                  <a:lnTo>
                    <a:pt x="399618" y="2025561"/>
                  </a:lnTo>
                  <a:lnTo>
                    <a:pt x="440778" y="2009863"/>
                  </a:lnTo>
                  <a:lnTo>
                    <a:pt x="478904" y="1988718"/>
                  </a:lnTo>
                  <a:lnTo>
                    <a:pt x="513499" y="1962607"/>
                  </a:lnTo>
                  <a:lnTo>
                    <a:pt x="526034" y="1950059"/>
                  </a:lnTo>
                  <a:lnTo>
                    <a:pt x="544080" y="1932000"/>
                  </a:lnTo>
                  <a:lnTo>
                    <a:pt x="570179" y="1897392"/>
                  </a:lnTo>
                  <a:lnTo>
                    <a:pt x="591312" y="1859254"/>
                  </a:lnTo>
                  <a:lnTo>
                    <a:pt x="607009" y="1818068"/>
                  </a:lnTo>
                  <a:lnTo>
                    <a:pt x="616775" y="1774304"/>
                  </a:lnTo>
                  <a:lnTo>
                    <a:pt x="620128" y="1728457"/>
                  </a:lnTo>
                  <a:lnTo>
                    <a:pt x="616851" y="1683804"/>
                  </a:lnTo>
                  <a:lnTo>
                    <a:pt x="616775" y="1682610"/>
                  </a:lnTo>
                  <a:lnTo>
                    <a:pt x="607009" y="1638858"/>
                  </a:lnTo>
                  <a:lnTo>
                    <a:pt x="591312" y="1597672"/>
                  </a:lnTo>
                  <a:lnTo>
                    <a:pt x="570179" y="1559534"/>
                  </a:lnTo>
                  <a:lnTo>
                    <a:pt x="557860" y="1543202"/>
                  </a:lnTo>
                  <a:lnTo>
                    <a:pt x="695756" y="1405242"/>
                  </a:lnTo>
                  <a:close/>
                </a:path>
                <a:path w="2037715" h="2038985">
                  <a:moveTo>
                    <a:pt x="695756" y="633450"/>
                  </a:moveTo>
                  <a:lnTo>
                    <a:pt x="557860" y="495503"/>
                  </a:lnTo>
                  <a:lnTo>
                    <a:pt x="570179" y="479158"/>
                  </a:lnTo>
                  <a:lnTo>
                    <a:pt x="591312" y="441020"/>
                  </a:lnTo>
                  <a:lnTo>
                    <a:pt x="607009" y="399834"/>
                  </a:lnTo>
                  <a:lnTo>
                    <a:pt x="616775" y="356082"/>
                  </a:lnTo>
                  <a:lnTo>
                    <a:pt x="620128" y="310235"/>
                  </a:lnTo>
                  <a:lnTo>
                    <a:pt x="616851" y="265582"/>
                  </a:lnTo>
                  <a:lnTo>
                    <a:pt x="616775" y="264388"/>
                  </a:lnTo>
                  <a:lnTo>
                    <a:pt x="607009" y="220624"/>
                  </a:lnTo>
                  <a:lnTo>
                    <a:pt x="591312" y="179438"/>
                  </a:lnTo>
                  <a:lnTo>
                    <a:pt x="570179" y="141300"/>
                  </a:lnTo>
                  <a:lnTo>
                    <a:pt x="544080" y="106692"/>
                  </a:lnTo>
                  <a:lnTo>
                    <a:pt x="531545" y="94157"/>
                  </a:lnTo>
                  <a:lnTo>
                    <a:pt x="531545" y="310235"/>
                  </a:lnTo>
                  <a:lnTo>
                    <a:pt x="527037" y="354901"/>
                  </a:lnTo>
                  <a:lnTo>
                    <a:pt x="514134" y="396494"/>
                  </a:lnTo>
                  <a:lnTo>
                    <a:pt x="493712" y="434136"/>
                  </a:lnTo>
                  <a:lnTo>
                    <a:pt x="466674" y="466928"/>
                  </a:lnTo>
                  <a:lnTo>
                    <a:pt x="433895" y="493991"/>
                  </a:lnTo>
                  <a:lnTo>
                    <a:pt x="396278" y="514413"/>
                  </a:lnTo>
                  <a:lnTo>
                    <a:pt x="354698" y="527329"/>
                  </a:lnTo>
                  <a:lnTo>
                    <a:pt x="310070" y="531825"/>
                  </a:lnTo>
                  <a:lnTo>
                    <a:pt x="265430" y="527329"/>
                  </a:lnTo>
                  <a:lnTo>
                    <a:pt x="223850" y="514413"/>
                  </a:lnTo>
                  <a:lnTo>
                    <a:pt x="186232" y="493991"/>
                  </a:lnTo>
                  <a:lnTo>
                    <a:pt x="153454" y="466928"/>
                  </a:lnTo>
                  <a:lnTo>
                    <a:pt x="126415" y="434136"/>
                  </a:lnTo>
                  <a:lnTo>
                    <a:pt x="105994" y="396494"/>
                  </a:lnTo>
                  <a:lnTo>
                    <a:pt x="93091" y="354901"/>
                  </a:lnTo>
                  <a:lnTo>
                    <a:pt x="88582" y="310235"/>
                  </a:lnTo>
                  <a:lnTo>
                    <a:pt x="93091" y="265582"/>
                  </a:lnTo>
                  <a:lnTo>
                    <a:pt x="105994" y="223977"/>
                  </a:lnTo>
                  <a:lnTo>
                    <a:pt x="126415" y="186347"/>
                  </a:lnTo>
                  <a:lnTo>
                    <a:pt x="153454" y="153543"/>
                  </a:lnTo>
                  <a:lnTo>
                    <a:pt x="186232" y="126479"/>
                  </a:lnTo>
                  <a:lnTo>
                    <a:pt x="223850" y="106057"/>
                  </a:lnTo>
                  <a:lnTo>
                    <a:pt x="265430" y="93141"/>
                  </a:lnTo>
                  <a:lnTo>
                    <a:pt x="310070" y="88633"/>
                  </a:lnTo>
                  <a:lnTo>
                    <a:pt x="354698" y="93141"/>
                  </a:lnTo>
                  <a:lnTo>
                    <a:pt x="396278" y="106057"/>
                  </a:lnTo>
                  <a:lnTo>
                    <a:pt x="433895" y="126479"/>
                  </a:lnTo>
                  <a:lnTo>
                    <a:pt x="466674" y="153543"/>
                  </a:lnTo>
                  <a:lnTo>
                    <a:pt x="493712" y="186347"/>
                  </a:lnTo>
                  <a:lnTo>
                    <a:pt x="514134" y="223977"/>
                  </a:lnTo>
                  <a:lnTo>
                    <a:pt x="527037" y="265582"/>
                  </a:lnTo>
                  <a:lnTo>
                    <a:pt x="531545" y="310235"/>
                  </a:lnTo>
                  <a:lnTo>
                    <a:pt x="531545" y="94157"/>
                  </a:lnTo>
                  <a:lnTo>
                    <a:pt x="478904" y="49974"/>
                  </a:lnTo>
                  <a:lnTo>
                    <a:pt x="440778" y="28829"/>
                  </a:lnTo>
                  <a:lnTo>
                    <a:pt x="399618" y="13131"/>
                  </a:lnTo>
                  <a:lnTo>
                    <a:pt x="355879" y="3365"/>
                  </a:lnTo>
                  <a:lnTo>
                    <a:pt x="310070" y="0"/>
                  </a:lnTo>
                  <a:lnTo>
                    <a:pt x="264248" y="3365"/>
                  </a:lnTo>
                  <a:lnTo>
                    <a:pt x="220510" y="13131"/>
                  </a:lnTo>
                  <a:lnTo>
                    <a:pt x="179349" y="28829"/>
                  </a:lnTo>
                  <a:lnTo>
                    <a:pt x="141224" y="49974"/>
                  </a:lnTo>
                  <a:lnTo>
                    <a:pt x="106641" y="76085"/>
                  </a:lnTo>
                  <a:lnTo>
                    <a:pt x="76047" y="106692"/>
                  </a:lnTo>
                  <a:lnTo>
                    <a:pt x="49949" y="141300"/>
                  </a:lnTo>
                  <a:lnTo>
                    <a:pt x="28816" y="179438"/>
                  </a:lnTo>
                  <a:lnTo>
                    <a:pt x="13119" y="220624"/>
                  </a:lnTo>
                  <a:lnTo>
                    <a:pt x="3365" y="264388"/>
                  </a:lnTo>
                  <a:lnTo>
                    <a:pt x="0" y="310235"/>
                  </a:lnTo>
                  <a:lnTo>
                    <a:pt x="3276" y="354901"/>
                  </a:lnTo>
                  <a:lnTo>
                    <a:pt x="13119" y="399834"/>
                  </a:lnTo>
                  <a:lnTo>
                    <a:pt x="28816" y="441020"/>
                  </a:lnTo>
                  <a:lnTo>
                    <a:pt x="49949" y="479158"/>
                  </a:lnTo>
                  <a:lnTo>
                    <a:pt x="76047" y="513778"/>
                  </a:lnTo>
                  <a:lnTo>
                    <a:pt x="106641" y="544372"/>
                  </a:lnTo>
                  <a:lnTo>
                    <a:pt x="141224" y="570496"/>
                  </a:lnTo>
                  <a:lnTo>
                    <a:pt x="179349" y="591642"/>
                  </a:lnTo>
                  <a:lnTo>
                    <a:pt x="220510" y="607339"/>
                  </a:lnTo>
                  <a:lnTo>
                    <a:pt x="264248" y="617105"/>
                  </a:lnTo>
                  <a:lnTo>
                    <a:pt x="310070" y="620471"/>
                  </a:lnTo>
                  <a:lnTo>
                    <a:pt x="355879" y="617105"/>
                  </a:lnTo>
                  <a:lnTo>
                    <a:pt x="399618" y="607339"/>
                  </a:lnTo>
                  <a:lnTo>
                    <a:pt x="440778" y="591642"/>
                  </a:lnTo>
                  <a:lnTo>
                    <a:pt x="478904" y="570496"/>
                  </a:lnTo>
                  <a:lnTo>
                    <a:pt x="495211" y="558190"/>
                  </a:lnTo>
                  <a:lnTo>
                    <a:pt x="633095" y="696137"/>
                  </a:lnTo>
                  <a:lnTo>
                    <a:pt x="695756" y="633450"/>
                  </a:lnTo>
                  <a:close/>
                </a:path>
                <a:path w="2037715" h="2038985">
                  <a:moveTo>
                    <a:pt x="2037575" y="1728457"/>
                  </a:moveTo>
                  <a:lnTo>
                    <a:pt x="2034298" y="1683804"/>
                  </a:lnTo>
                  <a:lnTo>
                    <a:pt x="2034222" y="1682610"/>
                  </a:lnTo>
                  <a:lnTo>
                    <a:pt x="2024456" y="1638858"/>
                  </a:lnTo>
                  <a:lnTo>
                    <a:pt x="2008759" y="1597672"/>
                  </a:lnTo>
                  <a:lnTo>
                    <a:pt x="1987626" y="1559534"/>
                  </a:lnTo>
                  <a:lnTo>
                    <a:pt x="1961527" y="1524914"/>
                  </a:lnTo>
                  <a:lnTo>
                    <a:pt x="1948992" y="1512379"/>
                  </a:lnTo>
                  <a:lnTo>
                    <a:pt x="1948992" y="1728457"/>
                  </a:lnTo>
                  <a:lnTo>
                    <a:pt x="1944484" y="1773123"/>
                  </a:lnTo>
                  <a:lnTo>
                    <a:pt x="1931581" y="1814715"/>
                  </a:lnTo>
                  <a:lnTo>
                    <a:pt x="1911172" y="1852358"/>
                  </a:lnTo>
                  <a:lnTo>
                    <a:pt x="1884121" y="1885162"/>
                  </a:lnTo>
                  <a:lnTo>
                    <a:pt x="1851342" y="1912213"/>
                  </a:lnTo>
                  <a:lnTo>
                    <a:pt x="1813725" y="1932647"/>
                  </a:lnTo>
                  <a:lnTo>
                    <a:pt x="1772145" y="1945551"/>
                  </a:lnTo>
                  <a:lnTo>
                    <a:pt x="1727517" y="1950059"/>
                  </a:lnTo>
                  <a:lnTo>
                    <a:pt x="1682877" y="1945551"/>
                  </a:lnTo>
                  <a:lnTo>
                    <a:pt x="1641297" y="1932647"/>
                  </a:lnTo>
                  <a:lnTo>
                    <a:pt x="1603679" y="1912213"/>
                  </a:lnTo>
                  <a:lnTo>
                    <a:pt x="1570901" y="1885162"/>
                  </a:lnTo>
                  <a:lnTo>
                    <a:pt x="1543862" y="1852358"/>
                  </a:lnTo>
                  <a:lnTo>
                    <a:pt x="1523441" y="1814715"/>
                  </a:lnTo>
                  <a:lnTo>
                    <a:pt x="1510538" y="1773123"/>
                  </a:lnTo>
                  <a:lnTo>
                    <a:pt x="1506042" y="1728457"/>
                  </a:lnTo>
                  <a:lnTo>
                    <a:pt x="1510538" y="1683804"/>
                  </a:lnTo>
                  <a:lnTo>
                    <a:pt x="1523441" y="1642211"/>
                  </a:lnTo>
                  <a:lnTo>
                    <a:pt x="1543862" y="1604568"/>
                  </a:lnTo>
                  <a:lnTo>
                    <a:pt x="1570901" y="1571777"/>
                  </a:lnTo>
                  <a:lnTo>
                    <a:pt x="1603679" y="1544713"/>
                  </a:lnTo>
                  <a:lnTo>
                    <a:pt x="1641297" y="1524279"/>
                  </a:lnTo>
                  <a:lnTo>
                    <a:pt x="1682877" y="1511363"/>
                  </a:lnTo>
                  <a:lnTo>
                    <a:pt x="1727517" y="1506867"/>
                  </a:lnTo>
                  <a:lnTo>
                    <a:pt x="1772145" y="1511363"/>
                  </a:lnTo>
                  <a:lnTo>
                    <a:pt x="1813725" y="1524279"/>
                  </a:lnTo>
                  <a:lnTo>
                    <a:pt x="1851342" y="1544713"/>
                  </a:lnTo>
                  <a:lnTo>
                    <a:pt x="1884121" y="1571777"/>
                  </a:lnTo>
                  <a:lnTo>
                    <a:pt x="1911172" y="1604568"/>
                  </a:lnTo>
                  <a:lnTo>
                    <a:pt x="1931581" y="1642211"/>
                  </a:lnTo>
                  <a:lnTo>
                    <a:pt x="1944484" y="1683804"/>
                  </a:lnTo>
                  <a:lnTo>
                    <a:pt x="1948992" y="1728457"/>
                  </a:lnTo>
                  <a:lnTo>
                    <a:pt x="1948992" y="1512379"/>
                  </a:lnTo>
                  <a:lnTo>
                    <a:pt x="1943481" y="1506867"/>
                  </a:lnTo>
                  <a:lnTo>
                    <a:pt x="1930946" y="1494320"/>
                  </a:lnTo>
                  <a:lnTo>
                    <a:pt x="1896351" y="1468208"/>
                  </a:lnTo>
                  <a:lnTo>
                    <a:pt x="1858225" y="1447050"/>
                  </a:lnTo>
                  <a:lnTo>
                    <a:pt x="1817065" y="1431353"/>
                  </a:lnTo>
                  <a:lnTo>
                    <a:pt x="1773326" y="1421587"/>
                  </a:lnTo>
                  <a:lnTo>
                    <a:pt x="1727517" y="1418221"/>
                  </a:lnTo>
                  <a:lnTo>
                    <a:pt x="1681695" y="1421587"/>
                  </a:lnTo>
                  <a:lnTo>
                    <a:pt x="1637957" y="1431353"/>
                  </a:lnTo>
                  <a:lnTo>
                    <a:pt x="1596796" y="1447050"/>
                  </a:lnTo>
                  <a:lnTo>
                    <a:pt x="1558671" y="1468208"/>
                  </a:lnTo>
                  <a:lnTo>
                    <a:pt x="1542364" y="1480527"/>
                  </a:lnTo>
                  <a:lnTo>
                    <a:pt x="1404480" y="1342555"/>
                  </a:lnTo>
                  <a:lnTo>
                    <a:pt x="1341818" y="1405242"/>
                  </a:lnTo>
                  <a:lnTo>
                    <a:pt x="1479702" y="1543202"/>
                  </a:lnTo>
                  <a:lnTo>
                    <a:pt x="1467396" y="1559534"/>
                  </a:lnTo>
                  <a:lnTo>
                    <a:pt x="1446263" y="1597672"/>
                  </a:lnTo>
                  <a:lnTo>
                    <a:pt x="1430578" y="1638858"/>
                  </a:lnTo>
                  <a:lnTo>
                    <a:pt x="1420812" y="1682610"/>
                  </a:lnTo>
                  <a:lnTo>
                    <a:pt x="1417447" y="1728457"/>
                  </a:lnTo>
                  <a:lnTo>
                    <a:pt x="1420723" y="1773123"/>
                  </a:lnTo>
                  <a:lnTo>
                    <a:pt x="1430578" y="1818068"/>
                  </a:lnTo>
                  <a:lnTo>
                    <a:pt x="1446263" y="1859254"/>
                  </a:lnTo>
                  <a:lnTo>
                    <a:pt x="1467396" y="1897392"/>
                  </a:lnTo>
                  <a:lnTo>
                    <a:pt x="1493494" y="1932000"/>
                  </a:lnTo>
                  <a:lnTo>
                    <a:pt x="1524088" y="1962607"/>
                  </a:lnTo>
                  <a:lnTo>
                    <a:pt x="1558671" y="1988718"/>
                  </a:lnTo>
                  <a:lnTo>
                    <a:pt x="1596796" y="2009863"/>
                  </a:lnTo>
                  <a:lnTo>
                    <a:pt x="1637957" y="2025561"/>
                  </a:lnTo>
                  <a:lnTo>
                    <a:pt x="1681695" y="2035340"/>
                  </a:lnTo>
                  <a:lnTo>
                    <a:pt x="1727517" y="2038692"/>
                  </a:lnTo>
                  <a:lnTo>
                    <a:pt x="1773339" y="2035340"/>
                  </a:lnTo>
                  <a:lnTo>
                    <a:pt x="1817065" y="2025561"/>
                  </a:lnTo>
                  <a:lnTo>
                    <a:pt x="1858225" y="2009863"/>
                  </a:lnTo>
                  <a:lnTo>
                    <a:pt x="1896351" y="1988718"/>
                  </a:lnTo>
                  <a:lnTo>
                    <a:pt x="1930946" y="1962607"/>
                  </a:lnTo>
                  <a:lnTo>
                    <a:pt x="1943481" y="1950059"/>
                  </a:lnTo>
                  <a:lnTo>
                    <a:pt x="1961527" y="1932000"/>
                  </a:lnTo>
                  <a:lnTo>
                    <a:pt x="1987626" y="1897392"/>
                  </a:lnTo>
                  <a:lnTo>
                    <a:pt x="2008759" y="1859254"/>
                  </a:lnTo>
                  <a:lnTo>
                    <a:pt x="2024456" y="1818068"/>
                  </a:lnTo>
                  <a:lnTo>
                    <a:pt x="2034222" y="1774304"/>
                  </a:lnTo>
                  <a:lnTo>
                    <a:pt x="2037575" y="1728457"/>
                  </a:lnTo>
                  <a:close/>
                </a:path>
                <a:path w="2037715" h="2038985">
                  <a:moveTo>
                    <a:pt x="2037575" y="310235"/>
                  </a:moveTo>
                  <a:lnTo>
                    <a:pt x="2034298" y="265582"/>
                  </a:lnTo>
                  <a:lnTo>
                    <a:pt x="2034222" y="264388"/>
                  </a:lnTo>
                  <a:lnTo>
                    <a:pt x="2024456" y="220637"/>
                  </a:lnTo>
                  <a:lnTo>
                    <a:pt x="2008759" y="179438"/>
                  </a:lnTo>
                  <a:lnTo>
                    <a:pt x="1987626" y="141300"/>
                  </a:lnTo>
                  <a:lnTo>
                    <a:pt x="1961527" y="106692"/>
                  </a:lnTo>
                  <a:lnTo>
                    <a:pt x="1948992" y="94157"/>
                  </a:lnTo>
                  <a:lnTo>
                    <a:pt x="1948992" y="310235"/>
                  </a:lnTo>
                  <a:lnTo>
                    <a:pt x="1944484" y="354901"/>
                  </a:lnTo>
                  <a:lnTo>
                    <a:pt x="1931581" y="396494"/>
                  </a:lnTo>
                  <a:lnTo>
                    <a:pt x="1911172" y="434136"/>
                  </a:lnTo>
                  <a:lnTo>
                    <a:pt x="1884121" y="466928"/>
                  </a:lnTo>
                  <a:lnTo>
                    <a:pt x="1851342" y="493991"/>
                  </a:lnTo>
                  <a:lnTo>
                    <a:pt x="1813725" y="514413"/>
                  </a:lnTo>
                  <a:lnTo>
                    <a:pt x="1772145" y="527329"/>
                  </a:lnTo>
                  <a:lnTo>
                    <a:pt x="1727517" y="531825"/>
                  </a:lnTo>
                  <a:lnTo>
                    <a:pt x="1682877" y="527329"/>
                  </a:lnTo>
                  <a:lnTo>
                    <a:pt x="1641297" y="514413"/>
                  </a:lnTo>
                  <a:lnTo>
                    <a:pt x="1603679" y="493991"/>
                  </a:lnTo>
                  <a:lnTo>
                    <a:pt x="1570901" y="466928"/>
                  </a:lnTo>
                  <a:lnTo>
                    <a:pt x="1543862" y="434136"/>
                  </a:lnTo>
                  <a:lnTo>
                    <a:pt x="1523441" y="396494"/>
                  </a:lnTo>
                  <a:lnTo>
                    <a:pt x="1510538" y="354901"/>
                  </a:lnTo>
                  <a:lnTo>
                    <a:pt x="1506029" y="310235"/>
                  </a:lnTo>
                  <a:lnTo>
                    <a:pt x="1510538" y="265582"/>
                  </a:lnTo>
                  <a:lnTo>
                    <a:pt x="1523441" y="223977"/>
                  </a:lnTo>
                  <a:lnTo>
                    <a:pt x="1543862" y="186347"/>
                  </a:lnTo>
                  <a:lnTo>
                    <a:pt x="1570901" y="153543"/>
                  </a:lnTo>
                  <a:lnTo>
                    <a:pt x="1603679" y="126479"/>
                  </a:lnTo>
                  <a:lnTo>
                    <a:pt x="1641297" y="106057"/>
                  </a:lnTo>
                  <a:lnTo>
                    <a:pt x="1682877" y="93141"/>
                  </a:lnTo>
                  <a:lnTo>
                    <a:pt x="1727517" y="88633"/>
                  </a:lnTo>
                  <a:lnTo>
                    <a:pt x="1772145" y="93141"/>
                  </a:lnTo>
                  <a:lnTo>
                    <a:pt x="1813725" y="106057"/>
                  </a:lnTo>
                  <a:lnTo>
                    <a:pt x="1851342" y="126479"/>
                  </a:lnTo>
                  <a:lnTo>
                    <a:pt x="1884121" y="153543"/>
                  </a:lnTo>
                  <a:lnTo>
                    <a:pt x="1911172" y="186347"/>
                  </a:lnTo>
                  <a:lnTo>
                    <a:pt x="1931581" y="223977"/>
                  </a:lnTo>
                  <a:lnTo>
                    <a:pt x="1944484" y="265582"/>
                  </a:lnTo>
                  <a:lnTo>
                    <a:pt x="1948992" y="310235"/>
                  </a:lnTo>
                  <a:lnTo>
                    <a:pt x="1948992" y="94157"/>
                  </a:lnTo>
                  <a:lnTo>
                    <a:pt x="1896351" y="49974"/>
                  </a:lnTo>
                  <a:lnTo>
                    <a:pt x="1858225" y="28829"/>
                  </a:lnTo>
                  <a:lnTo>
                    <a:pt x="1817065" y="13131"/>
                  </a:lnTo>
                  <a:lnTo>
                    <a:pt x="1773326" y="3365"/>
                  </a:lnTo>
                  <a:lnTo>
                    <a:pt x="1727517" y="0"/>
                  </a:lnTo>
                  <a:lnTo>
                    <a:pt x="1681695" y="3365"/>
                  </a:lnTo>
                  <a:lnTo>
                    <a:pt x="1637957" y="13131"/>
                  </a:lnTo>
                  <a:lnTo>
                    <a:pt x="1596796" y="28829"/>
                  </a:lnTo>
                  <a:lnTo>
                    <a:pt x="1558671" y="49974"/>
                  </a:lnTo>
                  <a:lnTo>
                    <a:pt x="1524088" y="76085"/>
                  </a:lnTo>
                  <a:lnTo>
                    <a:pt x="1493494" y="106692"/>
                  </a:lnTo>
                  <a:lnTo>
                    <a:pt x="1467396" y="141300"/>
                  </a:lnTo>
                  <a:lnTo>
                    <a:pt x="1446263" y="179438"/>
                  </a:lnTo>
                  <a:lnTo>
                    <a:pt x="1430578" y="220637"/>
                  </a:lnTo>
                  <a:lnTo>
                    <a:pt x="1420812" y="264388"/>
                  </a:lnTo>
                  <a:lnTo>
                    <a:pt x="1417447" y="310235"/>
                  </a:lnTo>
                  <a:lnTo>
                    <a:pt x="1420723" y="354901"/>
                  </a:lnTo>
                  <a:lnTo>
                    <a:pt x="1430578" y="399834"/>
                  </a:lnTo>
                  <a:lnTo>
                    <a:pt x="1446263" y="441020"/>
                  </a:lnTo>
                  <a:lnTo>
                    <a:pt x="1467396" y="479158"/>
                  </a:lnTo>
                  <a:lnTo>
                    <a:pt x="1479702" y="495503"/>
                  </a:lnTo>
                  <a:lnTo>
                    <a:pt x="1341818" y="633450"/>
                  </a:lnTo>
                  <a:lnTo>
                    <a:pt x="1404480" y="696137"/>
                  </a:lnTo>
                  <a:lnTo>
                    <a:pt x="1542351" y="558177"/>
                  </a:lnTo>
                  <a:lnTo>
                    <a:pt x="1558671" y="570496"/>
                  </a:lnTo>
                  <a:lnTo>
                    <a:pt x="1596796" y="591642"/>
                  </a:lnTo>
                  <a:lnTo>
                    <a:pt x="1637957" y="607339"/>
                  </a:lnTo>
                  <a:lnTo>
                    <a:pt x="1681695" y="617105"/>
                  </a:lnTo>
                  <a:lnTo>
                    <a:pt x="1727517" y="620471"/>
                  </a:lnTo>
                  <a:lnTo>
                    <a:pt x="1773326" y="617105"/>
                  </a:lnTo>
                  <a:lnTo>
                    <a:pt x="1817065" y="607339"/>
                  </a:lnTo>
                  <a:lnTo>
                    <a:pt x="1858225" y="591642"/>
                  </a:lnTo>
                  <a:lnTo>
                    <a:pt x="1896351" y="570496"/>
                  </a:lnTo>
                  <a:lnTo>
                    <a:pt x="1930946" y="544372"/>
                  </a:lnTo>
                  <a:lnTo>
                    <a:pt x="1943481" y="531825"/>
                  </a:lnTo>
                  <a:lnTo>
                    <a:pt x="1961527" y="513778"/>
                  </a:lnTo>
                  <a:lnTo>
                    <a:pt x="1987626" y="479158"/>
                  </a:lnTo>
                  <a:lnTo>
                    <a:pt x="2008759" y="441020"/>
                  </a:lnTo>
                  <a:lnTo>
                    <a:pt x="2024456" y="399834"/>
                  </a:lnTo>
                  <a:lnTo>
                    <a:pt x="2034222" y="356082"/>
                  </a:lnTo>
                  <a:lnTo>
                    <a:pt x="2037575" y="310235"/>
                  </a:lnTo>
                  <a:close/>
                </a:path>
              </a:pathLst>
            </a:custGeom>
            <a:solidFill>
              <a:srgbClr val="2C2D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5" descr="$PPTXTitle">
            <a:extLst>
              <a:ext uri="{FF2B5EF4-FFF2-40B4-BE49-F238E27FC236}">
                <a16:creationId xmlns:a16="http://schemas.microsoft.com/office/drawing/2014/main" id="{A428FF35-E2E6-89FA-952F-6D9E7234E2E9}"/>
              </a:ext>
            </a:extLst>
          </p:cNvPr>
          <p:cNvSpPr txBox="1">
            <a:spLocks/>
          </p:cNvSpPr>
          <p:nvPr/>
        </p:nvSpPr>
        <p:spPr>
          <a:xfrm>
            <a:off x="5713102" y="490595"/>
            <a:ext cx="3731497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1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UiPath</a:t>
            </a:r>
            <a:r>
              <a:rPr lang="en-US" sz="2400" b="1" spc="-95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sz="2400" b="1" spc="-3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spc="-1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Workflows</a:t>
            </a:r>
            <a:endParaRPr lang="en-US" sz="2400" b="1" spc="-1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301" y="1167206"/>
            <a:ext cx="3622675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spc="-114" dirty="0">
                <a:solidFill>
                  <a:srgbClr val="FFFFFF"/>
                </a:solidFill>
              </a:rPr>
              <a:t>Why</a:t>
            </a:r>
            <a:r>
              <a:rPr sz="2750" spc="-300" dirty="0">
                <a:solidFill>
                  <a:srgbClr val="FFFFFF"/>
                </a:solidFill>
              </a:rPr>
              <a:t> </a:t>
            </a:r>
            <a:r>
              <a:rPr sz="2750" spc="-100" dirty="0">
                <a:solidFill>
                  <a:srgbClr val="FFFFFF"/>
                </a:solidFill>
              </a:rPr>
              <a:t>use</a:t>
            </a:r>
            <a:r>
              <a:rPr sz="2750" spc="-310" dirty="0">
                <a:solidFill>
                  <a:srgbClr val="FFFFFF"/>
                </a:solidFill>
              </a:rPr>
              <a:t> </a:t>
            </a:r>
            <a:r>
              <a:rPr sz="2750" spc="-120" dirty="0">
                <a:solidFill>
                  <a:srgbClr val="FFFFFF"/>
                </a:solidFill>
              </a:rPr>
              <a:t>API</a:t>
            </a:r>
            <a:r>
              <a:rPr sz="2750" spc="-290" dirty="0">
                <a:solidFill>
                  <a:srgbClr val="FFFFFF"/>
                </a:solidFill>
              </a:rPr>
              <a:t> </a:t>
            </a:r>
            <a:r>
              <a:rPr sz="2750" spc="-120" dirty="0">
                <a:solidFill>
                  <a:srgbClr val="FFFFFF"/>
                </a:solidFill>
              </a:rPr>
              <a:t>Workflows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492048" y="2198623"/>
            <a:ext cx="3886835" cy="2952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891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6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purpose-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fit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design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experience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build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consistency,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multi-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step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composite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service</a:t>
            </a:r>
            <a:r>
              <a:rPr sz="1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scenarios.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 MT"/>
              <a:cs typeface="Arial MT"/>
            </a:endParaRPr>
          </a:p>
          <a:p>
            <a:pPr marL="12700" marR="9652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Built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enterprise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robust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security,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compliance</a:t>
            </a:r>
            <a:r>
              <a:rPr sz="1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governance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paired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with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comprehensive</a:t>
            </a:r>
            <a:r>
              <a:rPr sz="1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controls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guardrails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on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UiPath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Platform.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Execute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real-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on-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demand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fast,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scalable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efficient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runtime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with zero-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touch</a:t>
            </a:r>
            <a:r>
              <a:rPr sz="16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management.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95390" y="1443989"/>
            <a:ext cx="4789805" cy="4483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60"/>
              </a:lnSpc>
              <a:spcBef>
                <a:spcPts val="105"/>
              </a:spcBef>
            </a:pPr>
            <a:r>
              <a:rPr sz="1400" b="1" dirty="0">
                <a:solidFill>
                  <a:srgbClr val="171F23"/>
                </a:solidFill>
                <a:latin typeface="Arial"/>
                <a:cs typeface="Arial"/>
              </a:rPr>
              <a:t>Start</a:t>
            </a:r>
            <a:r>
              <a:rPr sz="1400" b="1" spc="-40" dirty="0">
                <a:solidFill>
                  <a:srgbClr val="171F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71F23"/>
                </a:solidFill>
                <a:latin typeface="Arial"/>
                <a:cs typeface="Arial"/>
              </a:rPr>
              <a:t>Instantly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:</a:t>
            </a:r>
            <a:r>
              <a:rPr sz="1400" spc="-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leverage</a:t>
            </a:r>
            <a:r>
              <a:rPr sz="1400" spc="-10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APIs</a:t>
            </a:r>
            <a:r>
              <a:rPr sz="1400" spc="-2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and</a:t>
            </a:r>
            <a:r>
              <a:rPr sz="1400" spc="-2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JavaScript</a:t>
            </a:r>
            <a:r>
              <a:rPr sz="1400" spc="-4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in</a:t>
            </a:r>
            <a:r>
              <a:rPr sz="14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a</a:t>
            </a:r>
            <a:r>
              <a:rPr sz="1400" spc="-2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no-</a:t>
            </a: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friction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60"/>
              </a:lnSpc>
            </a:pP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experience</a:t>
            </a:r>
            <a:r>
              <a:rPr sz="1400" spc="-6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without</a:t>
            </a:r>
            <a:r>
              <a:rPr sz="1400" spc="-5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learning</a:t>
            </a:r>
            <a:r>
              <a:rPr sz="1400" spc="-6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proprietary</a:t>
            </a:r>
            <a:r>
              <a:rPr sz="1400" spc="-7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syntax.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95390" y="2175763"/>
            <a:ext cx="5314950" cy="337502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95250">
              <a:lnSpc>
                <a:spcPts val="1639"/>
              </a:lnSpc>
              <a:spcBef>
                <a:spcPts val="190"/>
              </a:spcBef>
            </a:pPr>
            <a:r>
              <a:rPr sz="1400" b="1" dirty="0">
                <a:solidFill>
                  <a:srgbClr val="171F23"/>
                </a:solidFill>
                <a:latin typeface="Arial"/>
                <a:cs typeface="Arial"/>
              </a:rPr>
              <a:t>Integrate</a:t>
            </a:r>
            <a:r>
              <a:rPr sz="1400" b="1" spc="-70" dirty="0">
                <a:solidFill>
                  <a:srgbClr val="171F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71F23"/>
                </a:solidFill>
                <a:latin typeface="Arial"/>
                <a:cs typeface="Arial"/>
              </a:rPr>
              <a:t>More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:</a:t>
            </a:r>
            <a:r>
              <a:rPr sz="1400" spc="-5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speed</a:t>
            </a:r>
            <a:r>
              <a:rPr sz="1400" spc="-5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up</a:t>
            </a:r>
            <a:r>
              <a:rPr sz="14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delivery</a:t>
            </a:r>
            <a:r>
              <a:rPr sz="14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with</a:t>
            </a: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guided</a:t>
            </a:r>
            <a:r>
              <a:rPr sz="1400" spc="-5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tooling,</a:t>
            </a:r>
            <a:r>
              <a:rPr sz="1400" spc="-11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AI-</a:t>
            </a: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assisted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development,</a:t>
            </a:r>
            <a:r>
              <a:rPr sz="1400" spc="-6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and</a:t>
            </a:r>
            <a:r>
              <a:rPr sz="14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see</a:t>
            </a:r>
            <a:r>
              <a:rPr sz="14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your</a:t>
            </a:r>
            <a:r>
              <a:rPr sz="14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data</a:t>
            </a:r>
            <a:r>
              <a:rPr sz="1400" spc="-4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in</a:t>
            </a:r>
            <a:r>
              <a:rPr sz="14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action</a:t>
            </a:r>
            <a:r>
              <a:rPr sz="1400" spc="-6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with</a:t>
            </a: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transparent</a:t>
            </a:r>
            <a:r>
              <a:rPr sz="1400" spc="-5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debug.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ts val="1660"/>
              </a:lnSpc>
              <a:spcBef>
                <a:spcPts val="5"/>
              </a:spcBef>
            </a:pPr>
            <a:r>
              <a:rPr sz="1400" b="1" dirty="0">
                <a:solidFill>
                  <a:srgbClr val="171F23"/>
                </a:solidFill>
                <a:latin typeface="Arial"/>
                <a:cs typeface="Arial"/>
              </a:rPr>
              <a:t>Be</a:t>
            </a:r>
            <a:r>
              <a:rPr sz="1400" b="1" spc="-70" dirty="0">
                <a:solidFill>
                  <a:srgbClr val="171F2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71F23"/>
                </a:solidFill>
                <a:latin typeface="Arial"/>
                <a:cs typeface="Arial"/>
              </a:rPr>
              <a:t>Agentic-</a:t>
            </a:r>
            <a:r>
              <a:rPr sz="1400" b="1" dirty="0">
                <a:solidFill>
                  <a:srgbClr val="171F23"/>
                </a:solidFill>
                <a:latin typeface="Arial"/>
                <a:cs typeface="Arial"/>
              </a:rPr>
              <a:t>Ready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:</a:t>
            </a:r>
            <a:r>
              <a:rPr sz="1400" spc="1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secure</a:t>
            </a:r>
            <a:r>
              <a:rPr sz="1400" spc="-6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deterministic</a:t>
            </a:r>
            <a:r>
              <a:rPr sz="1400" spc="-5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business</a:t>
            </a:r>
            <a:r>
              <a:rPr sz="1400" spc="-6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logic</a:t>
            </a:r>
            <a:r>
              <a:rPr sz="14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behind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60"/>
              </a:lnSpc>
            </a:pP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APIs,</a:t>
            </a:r>
            <a:r>
              <a:rPr sz="1400" spc="-4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making</a:t>
            </a:r>
            <a:r>
              <a:rPr sz="14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it</a:t>
            </a:r>
            <a:r>
              <a:rPr sz="14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accessible</a:t>
            </a:r>
            <a:r>
              <a:rPr sz="1400" spc="-7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to</a:t>
            </a:r>
            <a:r>
              <a:rPr sz="1400" spc="-2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agents</a:t>
            </a:r>
            <a:r>
              <a:rPr sz="1400" spc="-5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and</a:t>
            </a:r>
            <a:r>
              <a:rPr sz="14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systems</a:t>
            </a:r>
            <a:r>
              <a:rPr sz="1400" spc="-4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alike.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400">
              <a:latin typeface="Arial MT"/>
              <a:cs typeface="Arial MT"/>
            </a:endParaRPr>
          </a:p>
          <a:p>
            <a:pPr marL="12700" marR="20320">
              <a:lnSpc>
                <a:spcPts val="1639"/>
              </a:lnSpc>
            </a:pPr>
            <a:r>
              <a:rPr sz="1400" b="1" dirty="0">
                <a:solidFill>
                  <a:srgbClr val="171F23"/>
                </a:solidFill>
                <a:latin typeface="Arial"/>
                <a:cs typeface="Arial"/>
              </a:rPr>
              <a:t>Ensure</a:t>
            </a:r>
            <a:r>
              <a:rPr sz="1400" b="1" spc="-35" dirty="0">
                <a:solidFill>
                  <a:srgbClr val="171F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71F23"/>
                </a:solidFill>
                <a:latin typeface="Arial"/>
                <a:cs typeface="Arial"/>
              </a:rPr>
              <a:t>Enterprise</a:t>
            </a:r>
            <a:r>
              <a:rPr sz="1400" b="1" spc="-60" dirty="0">
                <a:solidFill>
                  <a:srgbClr val="171F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71F23"/>
                </a:solidFill>
                <a:latin typeface="Arial"/>
                <a:cs typeface="Arial"/>
              </a:rPr>
              <a:t>Control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:</a:t>
            </a:r>
            <a:r>
              <a:rPr sz="14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apply</a:t>
            </a:r>
            <a:r>
              <a:rPr sz="1400" spc="-4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platform-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wide</a:t>
            </a:r>
            <a:r>
              <a:rPr sz="1400" spc="-4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governance,</a:t>
            </a:r>
            <a:r>
              <a:rPr sz="1400" spc="-5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role-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based</a:t>
            </a:r>
            <a:r>
              <a:rPr sz="1400" spc="-4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access,</a:t>
            </a:r>
            <a:r>
              <a:rPr sz="1400" spc="-4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and</a:t>
            </a:r>
            <a:r>
              <a:rPr sz="14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policy</a:t>
            </a:r>
            <a:r>
              <a:rPr sz="14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enforcement.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400">
              <a:latin typeface="Arial MT"/>
              <a:cs typeface="Arial MT"/>
            </a:endParaRPr>
          </a:p>
          <a:p>
            <a:pPr marL="12700" marR="669925">
              <a:lnSpc>
                <a:spcPts val="1639"/>
              </a:lnSpc>
            </a:pPr>
            <a:r>
              <a:rPr sz="1400" b="1" dirty="0">
                <a:solidFill>
                  <a:srgbClr val="171F23"/>
                </a:solidFill>
                <a:latin typeface="Arial"/>
                <a:cs typeface="Arial"/>
              </a:rPr>
              <a:t>Run</a:t>
            </a:r>
            <a:r>
              <a:rPr sz="1400" b="1" spc="-30" dirty="0">
                <a:solidFill>
                  <a:srgbClr val="171F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71F23"/>
                </a:solidFill>
                <a:latin typeface="Arial"/>
                <a:cs typeface="Arial"/>
              </a:rPr>
              <a:t>When</a:t>
            </a:r>
            <a:r>
              <a:rPr sz="1400" b="1" spc="-30" dirty="0">
                <a:solidFill>
                  <a:srgbClr val="171F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71F23"/>
                </a:solidFill>
                <a:latin typeface="Arial"/>
                <a:cs typeface="Arial"/>
              </a:rPr>
              <a:t>It</a:t>
            </a:r>
            <a:r>
              <a:rPr sz="1400" b="1" spc="-40" dirty="0">
                <a:solidFill>
                  <a:srgbClr val="171F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71F23"/>
                </a:solidFill>
                <a:latin typeface="Arial"/>
                <a:cs typeface="Arial"/>
              </a:rPr>
              <a:t>Matters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:</a:t>
            </a:r>
            <a:r>
              <a:rPr sz="1400" spc="-5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execute</a:t>
            </a:r>
            <a:r>
              <a:rPr sz="1400" spc="-4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workflows</a:t>
            </a:r>
            <a:r>
              <a:rPr sz="14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on-demand</a:t>
            </a:r>
            <a:r>
              <a:rPr sz="1400" spc="-6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or</a:t>
            </a:r>
            <a:r>
              <a:rPr sz="1400" spc="-4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171F23"/>
                </a:solidFill>
                <a:latin typeface="Arial MT"/>
                <a:cs typeface="Arial MT"/>
              </a:rPr>
              <a:t>in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response</a:t>
            </a:r>
            <a:r>
              <a:rPr sz="1400" spc="-6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to</a:t>
            </a:r>
            <a:r>
              <a:rPr sz="14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events,</a:t>
            </a:r>
            <a:r>
              <a:rPr sz="1400" spc="-4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scaling</a:t>
            </a:r>
            <a:r>
              <a:rPr sz="1400" spc="-4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in</a:t>
            </a:r>
            <a:r>
              <a:rPr sz="14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real</a:t>
            </a:r>
            <a:r>
              <a:rPr sz="14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time</a:t>
            </a:r>
            <a:r>
              <a:rPr sz="14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with</a:t>
            </a:r>
            <a:r>
              <a:rPr sz="14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your</a:t>
            </a:r>
            <a:r>
              <a:rPr sz="1400" spc="-1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business.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ts val="1639"/>
              </a:lnSpc>
            </a:pPr>
            <a:r>
              <a:rPr sz="1400" b="1" spc="-10" dirty="0">
                <a:solidFill>
                  <a:srgbClr val="171F23"/>
                </a:solidFill>
                <a:latin typeface="Arial"/>
                <a:cs typeface="Arial"/>
              </a:rPr>
              <a:t>Consume</a:t>
            </a:r>
            <a:r>
              <a:rPr sz="1400" b="1" spc="-90" dirty="0">
                <a:solidFill>
                  <a:srgbClr val="171F2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71F23"/>
                </a:solidFill>
                <a:latin typeface="Arial"/>
                <a:cs typeface="Arial"/>
              </a:rPr>
              <a:t>Anywhere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:</a:t>
            </a:r>
            <a:r>
              <a:rPr sz="14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turn</a:t>
            </a:r>
            <a:r>
              <a:rPr sz="1400" spc="-10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API</a:t>
            </a:r>
            <a:r>
              <a:rPr sz="1400" spc="-2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workflows</a:t>
            </a:r>
            <a:r>
              <a:rPr sz="14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into</a:t>
            </a:r>
            <a:r>
              <a:rPr sz="14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callable</a:t>
            </a:r>
            <a:r>
              <a:rPr sz="1400" spc="-5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services</a:t>
            </a:r>
            <a:r>
              <a:rPr sz="1400" spc="-2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171F23"/>
                </a:solidFill>
                <a:latin typeface="Arial MT"/>
                <a:cs typeface="Arial MT"/>
              </a:rPr>
              <a:t>that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can</a:t>
            </a:r>
            <a:r>
              <a:rPr sz="14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be</a:t>
            </a:r>
            <a:r>
              <a:rPr sz="14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initiated</a:t>
            </a:r>
            <a:r>
              <a:rPr sz="1400" spc="-4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from</a:t>
            </a:r>
            <a:r>
              <a:rPr sz="1400" spc="-4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the</a:t>
            </a:r>
            <a:r>
              <a:rPr sz="14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UiPath</a:t>
            </a:r>
            <a:r>
              <a:rPr sz="14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ecosystem</a:t>
            </a:r>
            <a:r>
              <a:rPr sz="1400" spc="-4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or</a:t>
            </a:r>
            <a:r>
              <a:rPr sz="14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from</a:t>
            </a:r>
            <a:r>
              <a:rPr sz="1400" spc="-3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your</a:t>
            </a:r>
            <a:r>
              <a:rPr sz="1400" spc="-2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own </a:t>
            </a: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apps.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6" name="object 6" descr="A red tick on a black shield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6897" y="3663451"/>
            <a:ext cx="304478" cy="37829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671695" y="2179954"/>
            <a:ext cx="381635" cy="381635"/>
            <a:chOff x="5671695" y="2179954"/>
            <a:chExt cx="381635" cy="381635"/>
          </a:xfrm>
        </p:grpSpPr>
        <p:sp>
          <p:nvSpPr>
            <p:cNvPr id="8" name="object 8"/>
            <p:cNvSpPr/>
            <p:nvPr/>
          </p:nvSpPr>
          <p:spPr>
            <a:xfrm>
              <a:off x="5671695" y="2179954"/>
              <a:ext cx="381635" cy="381635"/>
            </a:xfrm>
            <a:custGeom>
              <a:avLst/>
              <a:gdLst/>
              <a:ahLst/>
              <a:cxnLst/>
              <a:rect l="l" t="t" r="r" b="b"/>
              <a:pathLst>
                <a:path w="381635" h="381635">
                  <a:moveTo>
                    <a:pt x="190503" y="0"/>
                  </a:moveTo>
                  <a:lnTo>
                    <a:pt x="146823" y="5034"/>
                  </a:lnTo>
                  <a:lnTo>
                    <a:pt x="106725" y="19373"/>
                  </a:lnTo>
                  <a:lnTo>
                    <a:pt x="71353" y="41874"/>
                  </a:lnTo>
                  <a:lnTo>
                    <a:pt x="41851" y="71392"/>
                  </a:lnTo>
                  <a:lnTo>
                    <a:pt x="19363" y="106783"/>
                  </a:lnTo>
                  <a:lnTo>
                    <a:pt x="5031" y="146903"/>
                  </a:lnTo>
                  <a:lnTo>
                    <a:pt x="0" y="190608"/>
                  </a:lnTo>
                  <a:lnTo>
                    <a:pt x="5031" y="234313"/>
                  </a:lnTo>
                  <a:lnTo>
                    <a:pt x="19363" y="274433"/>
                  </a:lnTo>
                  <a:lnTo>
                    <a:pt x="41851" y="309824"/>
                  </a:lnTo>
                  <a:lnTo>
                    <a:pt x="71353" y="339343"/>
                  </a:lnTo>
                  <a:lnTo>
                    <a:pt x="106725" y="361844"/>
                  </a:lnTo>
                  <a:lnTo>
                    <a:pt x="146823" y="376183"/>
                  </a:lnTo>
                  <a:lnTo>
                    <a:pt x="190504" y="381217"/>
                  </a:lnTo>
                  <a:lnTo>
                    <a:pt x="234185" y="376183"/>
                  </a:lnTo>
                  <a:lnTo>
                    <a:pt x="259589" y="367098"/>
                  </a:lnTo>
                  <a:lnTo>
                    <a:pt x="190504" y="367098"/>
                  </a:lnTo>
                  <a:lnTo>
                    <a:pt x="143611" y="360794"/>
                  </a:lnTo>
                  <a:lnTo>
                    <a:pt x="101475" y="343002"/>
                  </a:lnTo>
                  <a:lnTo>
                    <a:pt x="65775" y="315406"/>
                  </a:lnTo>
                  <a:lnTo>
                    <a:pt x="38194" y="279686"/>
                  </a:lnTo>
                  <a:lnTo>
                    <a:pt x="20412" y="237527"/>
                  </a:lnTo>
                  <a:lnTo>
                    <a:pt x="14111" y="190608"/>
                  </a:lnTo>
                  <a:lnTo>
                    <a:pt x="20412" y="143690"/>
                  </a:lnTo>
                  <a:lnTo>
                    <a:pt x="38193" y="101530"/>
                  </a:lnTo>
                  <a:lnTo>
                    <a:pt x="65775" y="65811"/>
                  </a:lnTo>
                  <a:lnTo>
                    <a:pt x="101474" y="38214"/>
                  </a:lnTo>
                  <a:lnTo>
                    <a:pt x="143611" y="20423"/>
                  </a:lnTo>
                  <a:lnTo>
                    <a:pt x="190503" y="14119"/>
                  </a:lnTo>
                  <a:lnTo>
                    <a:pt x="259589" y="14119"/>
                  </a:lnTo>
                  <a:lnTo>
                    <a:pt x="234184" y="5034"/>
                  </a:lnTo>
                  <a:lnTo>
                    <a:pt x="190503" y="0"/>
                  </a:lnTo>
                  <a:close/>
                </a:path>
                <a:path w="381635" h="381635">
                  <a:moveTo>
                    <a:pt x="259589" y="14119"/>
                  </a:moveTo>
                  <a:lnTo>
                    <a:pt x="190503" y="14119"/>
                  </a:lnTo>
                  <a:lnTo>
                    <a:pt x="237396" y="20423"/>
                  </a:lnTo>
                  <a:lnTo>
                    <a:pt x="279533" y="38215"/>
                  </a:lnTo>
                  <a:lnTo>
                    <a:pt x="315232" y="65811"/>
                  </a:lnTo>
                  <a:lnTo>
                    <a:pt x="342814" y="101530"/>
                  </a:lnTo>
                  <a:lnTo>
                    <a:pt x="360595" y="143690"/>
                  </a:lnTo>
                  <a:lnTo>
                    <a:pt x="366896" y="190609"/>
                  </a:lnTo>
                  <a:lnTo>
                    <a:pt x="360596" y="237527"/>
                  </a:lnTo>
                  <a:lnTo>
                    <a:pt x="342814" y="279687"/>
                  </a:lnTo>
                  <a:lnTo>
                    <a:pt x="315232" y="315406"/>
                  </a:lnTo>
                  <a:lnTo>
                    <a:pt x="279533" y="343002"/>
                  </a:lnTo>
                  <a:lnTo>
                    <a:pt x="237396" y="360794"/>
                  </a:lnTo>
                  <a:lnTo>
                    <a:pt x="190504" y="367098"/>
                  </a:lnTo>
                  <a:lnTo>
                    <a:pt x="259589" y="367098"/>
                  </a:lnTo>
                  <a:lnTo>
                    <a:pt x="309654" y="339343"/>
                  </a:lnTo>
                  <a:lnTo>
                    <a:pt x="339156" y="309825"/>
                  </a:lnTo>
                  <a:lnTo>
                    <a:pt x="361645" y="274433"/>
                  </a:lnTo>
                  <a:lnTo>
                    <a:pt x="375976" y="234313"/>
                  </a:lnTo>
                  <a:lnTo>
                    <a:pt x="381008" y="190609"/>
                  </a:lnTo>
                  <a:lnTo>
                    <a:pt x="375976" y="146904"/>
                  </a:lnTo>
                  <a:lnTo>
                    <a:pt x="361645" y="106784"/>
                  </a:lnTo>
                  <a:lnTo>
                    <a:pt x="339156" y="71392"/>
                  </a:lnTo>
                  <a:lnTo>
                    <a:pt x="309654" y="41874"/>
                  </a:lnTo>
                  <a:lnTo>
                    <a:pt x="274282" y="19373"/>
                  </a:lnTo>
                  <a:lnTo>
                    <a:pt x="259589" y="14119"/>
                  </a:lnTo>
                  <a:close/>
                </a:path>
              </a:pathLst>
            </a:custGeom>
            <a:solidFill>
              <a:srgbClr val="2C2D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3341" y="2303265"/>
              <a:ext cx="217715" cy="133367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678751" y="2931869"/>
            <a:ext cx="367030" cy="367665"/>
            <a:chOff x="5678751" y="2931869"/>
            <a:chExt cx="367030" cy="367665"/>
          </a:xfrm>
        </p:grpSpPr>
        <p:sp>
          <p:nvSpPr>
            <p:cNvPr id="11" name="object 11"/>
            <p:cNvSpPr/>
            <p:nvPr/>
          </p:nvSpPr>
          <p:spPr>
            <a:xfrm>
              <a:off x="5711677" y="2964813"/>
              <a:ext cx="301625" cy="301625"/>
            </a:xfrm>
            <a:custGeom>
              <a:avLst/>
              <a:gdLst/>
              <a:ahLst/>
              <a:cxnLst/>
              <a:rect l="l" t="t" r="r" b="b"/>
              <a:pathLst>
                <a:path w="301625" h="301625">
                  <a:moveTo>
                    <a:pt x="279876" y="0"/>
                  </a:moveTo>
                  <a:lnTo>
                    <a:pt x="21167" y="0"/>
                  </a:lnTo>
                  <a:lnTo>
                    <a:pt x="0" y="21178"/>
                  </a:lnTo>
                  <a:lnTo>
                    <a:pt x="0" y="280030"/>
                  </a:lnTo>
                  <a:lnTo>
                    <a:pt x="279876" y="301209"/>
                  </a:lnTo>
                  <a:lnTo>
                    <a:pt x="288115" y="299544"/>
                  </a:lnTo>
                  <a:lnTo>
                    <a:pt x="294843" y="295005"/>
                  </a:lnTo>
                  <a:lnTo>
                    <a:pt x="299380" y="288273"/>
                  </a:lnTo>
                  <a:lnTo>
                    <a:pt x="299619" y="287090"/>
                  </a:lnTo>
                  <a:lnTo>
                    <a:pt x="17271" y="287090"/>
                  </a:lnTo>
                  <a:lnTo>
                    <a:pt x="14111" y="283928"/>
                  </a:lnTo>
                  <a:lnTo>
                    <a:pt x="14111" y="17280"/>
                  </a:lnTo>
                  <a:lnTo>
                    <a:pt x="17270" y="14119"/>
                  </a:lnTo>
                  <a:lnTo>
                    <a:pt x="299618" y="14119"/>
                  </a:lnTo>
                  <a:lnTo>
                    <a:pt x="299379" y="12935"/>
                  </a:lnTo>
                  <a:lnTo>
                    <a:pt x="294843" y="6203"/>
                  </a:lnTo>
                  <a:lnTo>
                    <a:pt x="288115" y="1664"/>
                  </a:lnTo>
                  <a:lnTo>
                    <a:pt x="279876" y="0"/>
                  </a:lnTo>
                  <a:close/>
                </a:path>
                <a:path w="301625" h="301625">
                  <a:moveTo>
                    <a:pt x="299618" y="14119"/>
                  </a:moveTo>
                  <a:lnTo>
                    <a:pt x="283772" y="14119"/>
                  </a:lnTo>
                  <a:lnTo>
                    <a:pt x="286932" y="17280"/>
                  </a:lnTo>
                  <a:lnTo>
                    <a:pt x="286932" y="283929"/>
                  </a:lnTo>
                  <a:lnTo>
                    <a:pt x="283772" y="287090"/>
                  </a:lnTo>
                  <a:lnTo>
                    <a:pt x="299619" y="287090"/>
                  </a:lnTo>
                  <a:lnTo>
                    <a:pt x="301043" y="280030"/>
                  </a:lnTo>
                  <a:lnTo>
                    <a:pt x="301043" y="21178"/>
                  </a:lnTo>
                  <a:lnTo>
                    <a:pt x="299618" y="14119"/>
                  </a:lnTo>
                  <a:close/>
                </a:path>
              </a:pathLst>
            </a:custGeom>
            <a:solidFill>
              <a:srgbClr val="2C2D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84586" y="3069531"/>
              <a:ext cx="102307" cy="13060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678741" y="2931871"/>
              <a:ext cx="367030" cy="367665"/>
            </a:xfrm>
            <a:custGeom>
              <a:avLst/>
              <a:gdLst/>
              <a:ahLst/>
              <a:cxnLst/>
              <a:rect l="l" t="t" r="r" b="b"/>
              <a:pathLst>
                <a:path w="367029" h="367664">
                  <a:moveTo>
                    <a:pt x="35280" y="263563"/>
                  </a:moveTo>
                  <a:lnTo>
                    <a:pt x="0" y="263563"/>
                  </a:lnTo>
                  <a:lnTo>
                    <a:pt x="0" y="277685"/>
                  </a:lnTo>
                  <a:lnTo>
                    <a:pt x="35280" y="277685"/>
                  </a:lnTo>
                  <a:lnTo>
                    <a:pt x="35280" y="263563"/>
                  </a:lnTo>
                  <a:close/>
                </a:path>
                <a:path w="367029" h="367664">
                  <a:moveTo>
                    <a:pt x="35280" y="207086"/>
                  </a:moveTo>
                  <a:lnTo>
                    <a:pt x="0" y="207086"/>
                  </a:lnTo>
                  <a:lnTo>
                    <a:pt x="0" y="221208"/>
                  </a:lnTo>
                  <a:lnTo>
                    <a:pt x="35280" y="221208"/>
                  </a:lnTo>
                  <a:lnTo>
                    <a:pt x="35280" y="207086"/>
                  </a:lnTo>
                  <a:close/>
                </a:path>
                <a:path w="367029" h="367664">
                  <a:moveTo>
                    <a:pt x="35280" y="150609"/>
                  </a:moveTo>
                  <a:lnTo>
                    <a:pt x="0" y="150609"/>
                  </a:lnTo>
                  <a:lnTo>
                    <a:pt x="0" y="164731"/>
                  </a:lnTo>
                  <a:lnTo>
                    <a:pt x="35280" y="164731"/>
                  </a:lnTo>
                  <a:lnTo>
                    <a:pt x="35280" y="150609"/>
                  </a:lnTo>
                  <a:close/>
                </a:path>
                <a:path w="367029" h="367664">
                  <a:moveTo>
                    <a:pt x="35280" y="94132"/>
                  </a:moveTo>
                  <a:lnTo>
                    <a:pt x="0" y="94132"/>
                  </a:lnTo>
                  <a:lnTo>
                    <a:pt x="0" y="108254"/>
                  </a:lnTo>
                  <a:lnTo>
                    <a:pt x="35280" y="108254"/>
                  </a:lnTo>
                  <a:lnTo>
                    <a:pt x="35280" y="94132"/>
                  </a:lnTo>
                  <a:close/>
                </a:path>
                <a:path w="367029" h="367664">
                  <a:moveTo>
                    <a:pt x="103492" y="331800"/>
                  </a:moveTo>
                  <a:lnTo>
                    <a:pt x="89369" y="331800"/>
                  </a:lnTo>
                  <a:lnTo>
                    <a:pt x="89369" y="367106"/>
                  </a:lnTo>
                  <a:lnTo>
                    <a:pt x="103492" y="367106"/>
                  </a:lnTo>
                  <a:lnTo>
                    <a:pt x="103492" y="331800"/>
                  </a:lnTo>
                  <a:close/>
                </a:path>
                <a:path w="367029" h="367664">
                  <a:moveTo>
                    <a:pt x="103492" y="0"/>
                  </a:moveTo>
                  <a:lnTo>
                    <a:pt x="89369" y="0"/>
                  </a:lnTo>
                  <a:lnTo>
                    <a:pt x="89369" y="35306"/>
                  </a:lnTo>
                  <a:lnTo>
                    <a:pt x="103492" y="35306"/>
                  </a:lnTo>
                  <a:lnTo>
                    <a:pt x="103492" y="0"/>
                  </a:lnTo>
                  <a:close/>
                </a:path>
                <a:path w="367029" h="367664">
                  <a:moveTo>
                    <a:pt x="159931" y="331800"/>
                  </a:moveTo>
                  <a:lnTo>
                    <a:pt x="145821" y="331800"/>
                  </a:lnTo>
                  <a:lnTo>
                    <a:pt x="145821" y="367106"/>
                  </a:lnTo>
                  <a:lnTo>
                    <a:pt x="159931" y="367106"/>
                  </a:lnTo>
                  <a:lnTo>
                    <a:pt x="159931" y="331800"/>
                  </a:lnTo>
                  <a:close/>
                </a:path>
                <a:path w="367029" h="367664">
                  <a:moveTo>
                    <a:pt x="159931" y="0"/>
                  </a:moveTo>
                  <a:lnTo>
                    <a:pt x="145821" y="0"/>
                  </a:lnTo>
                  <a:lnTo>
                    <a:pt x="145821" y="35306"/>
                  </a:lnTo>
                  <a:lnTo>
                    <a:pt x="159931" y="35306"/>
                  </a:lnTo>
                  <a:lnTo>
                    <a:pt x="159931" y="0"/>
                  </a:lnTo>
                  <a:close/>
                </a:path>
                <a:path w="367029" h="367664">
                  <a:moveTo>
                    <a:pt x="216382" y="331800"/>
                  </a:moveTo>
                  <a:lnTo>
                    <a:pt x="202272" y="331800"/>
                  </a:lnTo>
                  <a:lnTo>
                    <a:pt x="202272" y="367106"/>
                  </a:lnTo>
                  <a:lnTo>
                    <a:pt x="216382" y="367106"/>
                  </a:lnTo>
                  <a:lnTo>
                    <a:pt x="216382" y="331800"/>
                  </a:lnTo>
                  <a:close/>
                </a:path>
                <a:path w="367029" h="367664">
                  <a:moveTo>
                    <a:pt x="216382" y="0"/>
                  </a:moveTo>
                  <a:lnTo>
                    <a:pt x="202272" y="0"/>
                  </a:lnTo>
                  <a:lnTo>
                    <a:pt x="202272" y="35306"/>
                  </a:lnTo>
                  <a:lnTo>
                    <a:pt x="216382" y="35306"/>
                  </a:lnTo>
                  <a:lnTo>
                    <a:pt x="216382" y="0"/>
                  </a:lnTo>
                  <a:close/>
                </a:path>
                <a:path w="367029" h="367664">
                  <a:moveTo>
                    <a:pt x="272821" y="331800"/>
                  </a:moveTo>
                  <a:lnTo>
                    <a:pt x="258711" y="331800"/>
                  </a:lnTo>
                  <a:lnTo>
                    <a:pt x="258711" y="367106"/>
                  </a:lnTo>
                  <a:lnTo>
                    <a:pt x="272821" y="367106"/>
                  </a:lnTo>
                  <a:lnTo>
                    <a:pt x="272821" y="331800"/>
                  </a:lnTo>
                  <a:close/>
                </a:path>
                <a:path w="367029" h="367664">
                  <a:moveTo>
                    <a:pt x="272821" y="0"/>
                  </a:moveTo>
                  <a:lnTo>
                    <a:pt x="258711" y="0"/>
                  </a:lnTo>
                  <a:lnTo>
                    <a:pt x="258711" y="35306"/>
                  </a:lnTo>
                  <a:lnTo>
                    <a:pt x="272821" y="35306"/>
                  </a:lnTo>
                  <a:lnTo>
                    <a:pt x="272821" y="0"/>
                  </a:lnTo>
                  <a:close/>
                </a:path>
                <a:path w="367029" h="367664">
                  <a:moveTo>
                    <a:pt x="366903" y="263563"/>
                  </a:moveTo>
                  <a:lnTo>
                    <a:pt x="331622" y="263563"/>
                  </a:lnTo>
                  <a:lnTo>
                    <a:pt x="331622" y="277685"/>
                  </a:lnTo>
                  <a:lnTo>
                    <a:pt x="366903" y="277685"/>
                  </a:lnTo>
                  <a:lnTo>
                    <a:pt x="366903" y="263563"/>
                  </a:lnTo>
                  <a:close/>
                </a:path>
                <a:path w="367029" h="367664">
                  <a:moveTo>
                    <a:pt x="366903" y="207086"/>
                  </a:moveTo>
                  <a:lnTo>
                    <a:pt x="331622" y="207086"/>
                  </a:lnTo>
                  <a:lnTo>
                    <a:pt x="331622" y="221208"/>
                  </a:lnTo>
                  <a:lnTo>
                    <a:pt x="366903" y="221208"/>
                  </a:lnTo>
                  <a:lnTo>
                    <a:pt x="366903" y="207086"/>
                  </a:lnTo>
                  <a:close/>
                </a:path>
                <a:path w="367029" h="367664">
                  <a:moveTo>
                    <a:pt x="366903" y="150609"/>
                  </a:moveTo>
                  <a:lnTo>
                    <a:pt x="331622" y="150609"/>
                  </a:lnTo>
                  <a:lnTo>
                    <a:pt x="331622" y="164731"/>
                  </a:lnTo>
                  <a:lnTo>
                    <a:pt x="366903" y="164731"/>
                  </a:lnTo>
                  <a:lnTo>
                    <a:pt x="366903" y="150609"/>
                  </a:lnTo>
                  <a:close/>
                </a:path>
                <a:path w="367029" h="367664">
                  <a:moveTo>
                    <a:pt x="366903" y="94132"/>
                  </a:moveTo>
                  <a:lnTo>
                    <a:pt x="331622" y="94132"/>
                  </a:lnTo>
                  <a:lnTo>
                    <a:pt x="331622" y="108254"/>
                  </a:lnTo>
                  <a:lnTo>
                    <a:pt x="366903" y="108254"/>
                  </a:lnTo>
                  <a:lnTo>
                    <a:pt x="366903" y="94132"/>
                  </a:lnTo>
                  <a:close/>
                </a:path>
              </a:pathLst>
            </a:custGeom>
            <a:solidFill>
              <a:srgbClr val="2C2D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18644" y="3023653"/>
              <a:ext cx="14604" cy="176530"/>
            </a:xfrm>
            <a:custGeom>
              <a:avLst/>
              <a:gdLst/>
              <a:ahLst/>
              <a:cxnLst/>
              <a:rect l="l" t="t" r="r" b="b"/>
              <a:pathLst>
                <a:path w="14604" h="176530">
                  <a:moveTo>
                    <a:pt x="14109" y="35293"/>
                  </a:moveTo>
                  <a:lnTo>
                    <a:pt x="0" y="35293"/>
                  </a:lnTo>
                  <a:lnTo>
                    <a:pt x="0" y="176491"/>
                  </a:lnTo>
                  <a:lnTo>
                    <a:pt x="14109" y="176491"/>
                  </a:lnTo>
                  <a:lnTo>
                    <a:pt x="14109" y="35293"/>
                  </a:lnTo>
                  <a:close/>
                </a:path>
                <a:path w="14604" h="176530">
                  <a:moveTo>
                    <a:pt x="14109" y="0"/>
                  </a:moveTo>
                  <a:lnTo>
                    <a:pt x="0" y="0"/>
                  </a:lnTo>
                  <a:lnTo>
                    <a:pt x="0" y="14109"/>
                  </a:lnTo>
                  <a:lnTo>
                    <a:pt x="14109" y="14109"/>
                  </a:lnTo>
                  <a:lnTo>
                    <a:pt x="14109" y="0"/>
                  </a:lnTo>
                  <a:close/>
                </a:path>
              </a:pathLst>
            </a:custGeom>
            <a:solidFill>
              <a:srgbClr val="F94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669343" y="1474619"/>
            <a:ext cx="386080" cy="339090"/>
            <a:chOff x="5669343" y="1474619"/>
            <a:chExt cx="386080" cy="339090"/>
          </a:xfrm>
        </p:grpSpPr>
        <p:sp>
          <p:nvSpPr>
            <p:cNvPr id="16" name="object 16"/>
            <p:cNvSpPr/>
            <p:nvPr/>
          </p:nvSpPr>
          <p:spPr>
            <a:xfrm>
              <a:off x="5669330" y="1474622"/>
              <a:ext cx="386080" cy="273685"/>
            </a:xfrm>
            <a:custGeom>
              <a:avLst/>
              <a:gdLst/>
              <a:ahLst/>
              <a:cxnLst/>
              <a:rect l="l" t="t" r="r" b="b"/>
              <a:pathLst>
                <a:path w="386079" h="273685">
                  <a:moveTo>
                    <a:pt x="385724" y="0"/>
                  </a:moveTo>
                  <a:lnTo>
                    <a:pt x="0" y="0"/>
                  </a:lnTo>
                  <a:lnTo>
                    <a:pt x="0" y="13982"/>
                  </a:lnTo>
                  <a:lnTo>
                    <a:pt x="0" y="259156"/>
                  </a:lnTo>
                  <a:lnTo>
                    <a:pt x="0" y="273126"/>
                  </a:lnTo>
                  <a:lnTo>
                    <a:pt x="221449" y="273126"/>
                  </a:lnTo>
                  <a:lnTo>
                    <a:pt x="221449" y="259156"/>
                  </a:lnTo>
                  <a:lnTo>
                    <a:pt x="14122" y="259156"/>
                  </a:lnTo>
                  <a:lnTo>
                    <a:pt x="14122" y="13982"/>
                  </a:lnTo>
                  <a:lnTo>
                    <a:pt x="371602" y="13982"/>
                  </a:lnTo>
                  <a:lnTo>
                    <a:pt x="371602" y="259156"/>
                  </a:lnTo>
                  <a:lnTo>
                    <a:pt x="335788" y="259156"/>
                  </a:lnTo>
                  <a:lnTo>
                    <a:pt x="335788" y="273126"/>
                  </a:lnTo>
                  <a:lnTo>
                    <a:pt x="385724" y="273126"/>
                  </a:lnTo>
                  <a:lnTo>
                    <a:pt x="385724" y="259156"/>
                  </a:lnTo>
                  <a:lnTo>
                    <a:pt x="385724" y="13982"/>
                  </a:lnTo>
                  <a:lnTo>
                    <a:pt x="385724" y="0"/>
                  </a:lnTo>
                  <a:close/>
                </a:path>
              </a:pathLst>
            </a:custGeom>
            <a:solidFill>
              <a:srgbClr val="2C2D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11589" y="1703364"/>
              <a:ext cx="70557" cy="10981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81014" y="1540420"/>
              <a:ext cx="122871" cy="12293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735193" y="1564525"/>
              <a:ext cx="113030" cy="99060"/>
            </a:xfrm>
            <a:custGeom>
              <a:avLst/>
              <a:gdLst/>
              <a:ahLst/>
              <a:cxnLst/>
              <a:rect l="l" t="t" r="r" b="b"/>
              <a:pathLst>
                <a:path w="113029" h="99060">
                  <a:moveTo>
                    <a:pt x="112890" y="84721"/>
                  </a:moveTo>
                  <a:lnTo>
                    <a:pt x="0" y="84721"/>
                  </a:lnTo>
                  <a:lnTo>
                    <a:pt x="0" y="98844"/>
                  </a:lnTo>
                  <a:lnTo>
                    <a:pt x="112890" y="98844"/>
                  </a:lnTo>
                  <a:lnTo>
                    <a:pt x="112890" y="84721"/>
                  </a:lnTo>
                  <a:close/>
                </a:path>
                <a:path w="113029" h="99060">
                  <a:moveTo>
                    <a:pt x="112890" y="42367"/>
                  </a:moveTo>
                  <a:lnTo>
                    <a:pt x="28219" y="42367"/>
                  </a:lnTo>
                  <a:lnTo>
                    <a:pt x="28219" y="56476"/>
                  </a:lnTo>
                  <a:lnTo>
                    <a:pt x="112890" y="56476"/>
                  </a:lnTo>
                  <a:lnTo>
                    <a:pt x="112890" y="42367"/>
                  </a:lnTo>
                  <a:close/>
                </a:path>
                <a:path w="113029" h="99060">
                  <a:moveTo>
                    <a:pt x="112890" y="0"/>
                  </a:moveTo>
                  <a:lnTo>
                    <a:pt x="56438" y="0"/>
                  </a:lnTo>
                  <a:lnTo>
                    <a:pt x="56438" y="14122"/>
                  </a:lnTo>
                  <a:lnTo>
                    <a:pt x="112890" y="14122"/>
                  </a:lnTo>
                  <a:lnTo>
                    <a:pt x="112890" y="0"/>
                  </a:lnTo>
                  <a:close/>
                </a:path>
              </a:pathLst>
            </a:custGeom>
            <a:solidFill>
              <a:srgbClr val="F94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678751" y="5166560"/>
            <a:ext cx="367030" cy="368935"/>
            <a:chOff x="5678751" y="5166560"/>
            <a:chExt cx="367030" cy="368935"/>
          </a:xfrm>
        </p:grpSpPr>
        <p:sp>
          <p:nvSpPr>
            <p:cNvPr id="21" name="object 21"/>
            <p:cNvSpPr/>
            <p:nvPr/>
          </p:nvSpPr>
          <p:spPr>
            <a:xfrm>
              <a:off x="5678751" y="5166560"/>
              <a:ext cx="367030" cy="240029"/>
            </a:xfrm>
            <a:custGeom>
              <a:avLst/>
              <a:gdLst/>
              <a:ahLst/>
              <a:cxnLst/>
              <a:rect l="l" t="t" r="r" b="b"/>
              <a:pathLst>
                <a:path w="367029" h="240029">
                  <a:moveTo>
                    <a:pt x="183448" y="0"/>
                  </a:moveTo>
                  <a:lnTo>
                    <a:pt x="0" y="120013"/>
                  </a:lnTo>
                  <a:lnTo>
                    <a:pt x="183448" y="240026"/>
                  </a:lnTo>
                  <a:lnTo>
                    <a:pt x="212416" y="221075"/>
                  </a:lnTo>
                  <a:lnTo>
                    <a:pt x="183448" y="221074"/>
                  </a:lnTo>
                  <a:lnTo>
                    <a:pt x="28963" y="120013"/>
                  </a:lnTo>
                  <a:lnTo>
                    <a:pt x="183448" y="18951"/>
                  </a:lnTo>
                  <a:lnTo>
                    <a:pt x="212416" y="18951"/>
                  </a:lnTo>
                  <a:lnTo>
                    <a:pt x="183448" y="0"/>
                  </a:lnTo>
                  <a:close/>
                </a:path>
                <a:path w="367029" h="240029">
                  <a:moveTo>
                    <a:pt x="212416" y="18951"/>
                  </a:moveTo>
                  <a:lnTo>
                    <a:pt x="183448" y="18951"/>
                  </a:lnTo>
                  <a:lnTo>
                    <a:pt x="337933" y="120013"/>
                  </a:lnTo>
                  <a:lnTo>
                    <a:pt x="183448" y="221074"/>
                  </a:lnTo>
                  <a:lnTo>
                    <a:pt x="212416" y="221075"/>
                  </a:lnTo>
                  <a:lnTo>
                    <a:pt x="366896" y="120013"/>
                  </a:lnTo>
                  <a:lnTo>
                    <a:pt x="212416" y="18951"/>
                  </a:lnTo>
                  <a:close/>
                </a:path>
              </a:pathLst>
            </a:custGeom>
            <a:solidFill>
              <a:srgbClr val="F94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63235" y="5223778"/>
              <a:ext cx="202757" cy="12064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681574" y="5337213"/>
              <a:ext cx="361315" cy="198120"/>
            </a:xfrm>
            <a:custGeom>
              <a:avLst/>
              <a:gdLst/>
              <a:ahLst/>
              <a:cxnLst/>
              <a:rect l="l" t="t" r="r" b="b"/>
              <a:pathLst>
                <a:path w="361314" h="198120">
                  <a:moveTo>
                    <a:pt x="361251" y="75222"/>
                  </a:moveTo>
                  <a:lnTo>
                    <a:pt x="353326" y="63538"/>
                  </a:lnTo>
                  <a:lnTo>
                    <a:pt x="180619" y="180860"/>
                  </a:lnTo>
                  <a:lnTo>
                    <a:pt x="7924" y="63538"/>
                  </a:lnTo>
                  <a:lnTo>
                    <a:pt x="0" y="75222"/>
                  </a:lnTo>
                  <a:lnTo>
                    <a:pt x="180619" y="197929"/>
                  </a:lnTo>
                  <a:lnTo>
                    <a:pt x="361251" y="75222"/>
                  </a:lnTo>
                  <a:close/>
                </a:path>
                <a:path w="361314" h="198120">
                  <a:moveTo>
                    <a:pt x="361251" y="11684"/>
                  </a:moveTo>
                  <a:lnTo>
                    <a:pt x="353326" y="0"/>
                  </a:lnTo>
                  <a:lnTo>
                    <a:pt x="180619" y="117322"/>
                  </a:lnTo>
                  <a:lnTo>
                    <a:pt x="7924" y="0"/>
                  </a:lnTo>
                  <a:lnTo>
                    <a:pt x="0" y="11684"/>
                  </a:lnTo>
                  <a:lnTo>
                    <a:pt x="180619" y="134391"/>
                  </a:lnTo>
                  <a:lnTo>
                    <a:pt x="361251" y="11684"/>
                  </a:lnTo>
                  <a:close/>
                </a:path>
              </a:pathLst>
            </a:custGeom>
            <a:solidFill>
              <a:srgbClr val="2C2D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99917" y="4442884"/>
            <a:ext cx="324562" cy="3247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36F7-3888-2417-298A-DEA224240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2BDB07B-7F39-06D0-C651-A040FF3C48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301" y="1171764"/>
            <a:ext cx="3921582" cy="4360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spc="-120" dirty="0">
                <a:solidFill>
                  <a:srgbClr val="FFFFFF"/>
                </a:solidFill>
              </a:rPr>
              <a:t>API</a:t>
            </a:r>
            <a:r>
              <a:rPr sz="2750" spc="-290" dirty="0">
                <a:solidFill>
                  <a:srgbClr val="FFFFFF"/>
                </a:solidFill>
              </a:rPr>
              <a:t> </a:t>
            </a:r>
            <a:r>
              <a:rPr sz="2750" spc="-120" dirty="0">
                <a:solidFill>
                  <a:srgbClr val="FFFFFF"/>
                </a:solidFill>
              </a:rPr>
              <a:t>Workflows</a:t>
            </a:r>
            <a:r>
              <a:rPr lang="en-US" sz="2750" spc="-120" dirty="0">
                <a:solidFill>
                  <a:srgbClr val="FFFFFF"/>
                </a:solidFill>
              </a:rPr>
              <a:t> Activities</a:t>
            </a:r>
            <a:endParaRPr sz="275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A9E2F34-6663-0052-3267-BCBBB82C0A66}"/>
              </a:ext>
            </a:extLst>
          </p:cNvPr>
          <p:cNvSpPr txBox="1"/>
          <p:nvPr/>
        </p:nvSpPr>
        <p:spPr>
          <a:xfrm>
            <a:off x="6295390" y="1443989"/>
            <a:ext cx="5129694" cy="66665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60"/>
              </a:lnSpc>
              <a:spcBef>
                <a:spcPts val="105"/>
              </a:spcBef>
            </a:pPr>
            <a:r>
              <a:rPr lang="en-US" sz="1400" b="1" dirty="0">
                <a:solidFill>
                  <a:srgbClr val="171F23"/>
                </a:solidFill>
                <a:latin typeface="Arial"/>
                <a:cs typeface="Arial"/>
              </a:rPr>
              <a:t>Connector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:</a:t>
            </a:r>
            <a:r>
              <a:rPr lang="en-US" sz="140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171F23"/>
                </a:solidFill>
                <a:latin typeface="Arial MT"/>
              </a:rPr>
              <a:t>Accesses prebuilt integrations from the UiPath Integration Service catalog (e.g., Salesforce, Workday, Slack).</a:t>
            </a:r>
          </a:p>
          <a:p>
            <a:pPr marL="12700">
              <a:lnSpc>
                <a:spcPts val="1660"/>
              </a:lnSpc>
              <a:spcBef>
                <a:spcPts val="105"/>
              </a:spcBef>
            </a:pPr>
            <a:r>
              <a:rPr sz="1400" spc="-10" dirty="0">
                <a:solidFill>
                  <a:srgbClr val="171F23"/>
                </a:solidFill>
                <a:latin typeface="Arial MT"/>
                <a:cs typeface="Arial MT"/>
              </a:rPr>
              <a:t>.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206B28C-85FC-0323-28C5-B18537969AD8}"/>
              </a:ext>
            </a:extLst>
          </p:cNvPr>
          <p:cNvSpPr txBox="1"/>
          <p:nvPr/>
        </p:nvSpPr>
        <p:spPr>
          <a:xfrm>
            <a:off x="6295390" y="2175763"/>
            <a:ext cx="5314950" cy="3812582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95250">
              <a:lnSpc>
                <a:spcPts val="1639"/>
              </a:lnSpc>
              <a:spcBef>
                <a:spcPts val="190"/>
              </a:spcBef>
            </a:pPr>
            <a:r>
              <a:rPr lang="en-US" sz="1400" b="1" dirty="0">
                <a:solidFill>
                  <a:srgbClr val="171F23"/>
                </a:solidFill>
                <a:latin typeface="Arial"/>
                <a:cs typeface="Arial"/>
              </a:rPr>
              <a:t>HTTP Request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:</a:t>
            </a:r>
            <a:r>
              <a:rPr sz="1400" spc="-5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171F23"/>
                </a:solidFill>
                <a:latin typeface="Arial MT"/>
              </a:rPr>
              <a:t>Performs raw REST API calls using standard methods (GET, POST, etc.) for systems without prebuilt connectors</a:t>
            </a:r>
          </a:p>
          <a:p>
            <a:pPr marL="12700" marR="95250">
              <a:lnSpc>
                <a:spcPts val="1639"/>
              </a:lnSpc>
              <a:spcBef>
                <a:spcPts val="190"/>
              </a:spcBef>
            </a:pPr>
            <a:endParaRPr lang="en-US" sz="1400" b="1" dirty="0">
              <a:solidFill>
                <a:srgbClr val="171F23"/>
              </a:solidFill>
              <a:latin typeface="Arial"/>
              <a:cs typeface="Arial"/>
            </a:endParaRPr>
          </a:p>
          <a:p>
            <a:pPr marL="12700" marR="95250">
              <a:lnSpc>
                <a:spcPts val="1639"/>
              </a:lnSpc>
              <a:spcBef>
                <a:spcPts val="190"/>
              </a:spcBef>
            </a:pPr>
            <a:r>
              <a:rPr lang="en-US" sz="1400" b="1" dirty="0">
                <a:solidFill>
                  <a:srgbClr val="171F23"/>
                </a:solidFill>
                <a:latin typeface="Arial"/>
                <a:cs typeface="Arial"/>
              </a:rPr>
              <a:t>Response</a:t>
            </a:r>
            <a:r>
              <a:rPr lang="en-US" sz="1400" dirty="0">
                <a:solidFill>
                  <a:srgbClr val="171F23"/>
                </a:solidFill>
                <a:latin typeface="Arial MT"/>
                <a:cs typeface="Arial MT"/>
              </a:rPr>
              <a:t>: </a:t>
            </a:r>
            <a:r>
              <a:rPr lang="en-US" sz="1400" dirty="0">
                <a:solidFill>
                  <a:srgbClr val="171F23"/>
                </a:solidFill>
                <a:latin typeface="Arial MT"/>
              </a:rPr>
              <a:t>Terminates the workflow and sends a structured JSON response back to the calling service, including success or failure status.</a:t>
            </a:r>
            <a:endParaRPr sz="1400" dirty="0">
              <a:solidFill>
                <a:srgbClr val="171F23"/>
              </a:solidFill>
              <a:latin typeface="Arial MT"/>
            </a:endParaRPr>
          </a:p>
          <a:p>
            <a:pPr marL="12700" marR="95250">
              <a:lnSpc>
                <a:spcPts val="1639"/>
              </a:lnSpc>
              <a:spcBef>
                <a:spcPts val="190"/>
              </a:spcBef>
            </a:pPr>
            <a:endParaRPr sz="1400" dirty="0">
              <a:solidFill>
                <a:srgbClr val="171F23"/>
              </a:solidFill>
              <a:latin typeface="Arial MT"/>
            </a:endParaRPr>
          </a:p>
          <a:p>
            <a:pPr marL="12700" marR="95250" fontAlgn="b">
              <a:lnSpc>
                <a:spcPts val="1639"/>
              </a:lnSpc>
              <a:spcBef>
                <a:spcPts val="190"/>
              </a:spcBef>
            </a:pPr>
            <a:r>
              <a:rPr lang="en-US" sz="14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Script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:</a:t>
            </a:r>
            <a:r>
              <a:rPr sz="1400" spc="-30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171F23"/>
                </a:solidFill>
                <a:latin typeface="Arial MT"/>
              </a:rPr>
              <a:t>Allows advanced data transformation and logic using JavaScript expressions directly within the canvas.</a:t>
            </a: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400" dirty="0">
              <a:latin typeface="Arial MT"/>
              <a:cs typeface="Arial MT"/>
            </a:endParaRPr>
          </a:p>
          <a:p>
            <a:pPr marL="12700" marR="95250" fontAlgn="b">
              <a:lnSpc>
                <a:spcPts val="1639"/>
              </a:lnSpc>
              <a:spcBef>
                <a:spcPts val="190"/>
              </a:spcBef>
            </a:pPr>
            <a:r>
              <a:rPr lang="en-US" sz="1400" b="1" dirty="0">
                <a:solidFill>
                  <a:srgbClr val="171F23"/>
                </a:solidFill>
                <a:latin typeface="Arial"/>
                <a:cs typeface="Arial"/>
              </a:rPr>
              <a:t>IF</a:t>
            </a:r>
            <a:r>
              <a:rPr sz="1400" dirty="0">
                <a:solidFill>
                  <a:srgbClr val="171F23"/>
                </a:solidFill>
                <a:latin typeface="Arial MT"/>
                <a:cs typeface="Arial MT"/>
              </a:rPr>
              <a:t>:</a:t>
            </a:r>
            <a:r>
              <a:rPr sz="1400" spc="-55" dirty="0">
                <a:solidFill>
                  <a:srgbClr val="171F23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171F23"/>
                </a:solidFill>
                <a:latin typeface="Arial MT"/>
              </a:rPr>
              <a:t>Implements conditional branching based on specific data criteria.</a:t>
            </a:r>
          </a:p>
          <a:p>
            <a:pPr marL="12700" marR="95250" fontAlgn="b">
              <a:lnSpc>
                <a:spcPts val="1639"/>
              </a:lnSpc>
              <a:spcBef>
                <a:spcPts val="190"/>
              </a:spcBef>
            </a:pPr>
            <a:endParaRPr sz="1400" dirty="0">
              <a:solidFill>
                <a:srgbClr val="171F23"/>
              </a:solidFill>
              <a:latin typeface="Arial MT"/>
            </a:endParaRPr>
          </a:p>
          <a:p>
            <a:pPr marL="12700" marR="5080">
              <a:lnSpc>
                <a:spcPts val="1639"/>
              </a:lnSpc>
            </a:pPr>
            <a:r>
              <a:rPr lang="en-US" sz="1400" b="1" dirty="0">
                <a:solidFill>
                  <a:srgbClr val="171F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Loop: </a:t>
            </a:r>
            <a:r>
              <a:rPr lang="en-US" sz="1400" dirty="0">
                <a:solidFill>
                  <a:srgbClr val="171F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Iterates</a:t>
            </a:r>
            <a:r>
              <a:rPr lang="en-US" sz="1400" dirty="0">
                <a:solidFill>
                  <a:srgbClr val="171F23"/>
                </a:solidFill>
                <a:latin typeface="Arial MT"/>
              </a:rPr>
              <a:t> through collections or arrays of data returned from API calls.</a:t>
            </a:r>
          </a:p>
          <a:p>
            <a:pPr marL="12700" marR="5080">
              <a:lnSpc>
                <a:spcPts val="1639"/>
              </a:lnSpc>
            </a:pPr>
            <a:endParaRPr sz="1400" dirty="0">
              <a:latin typeface="Arial MT"/>
              <a:cs typeface="Arial MT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2D2E0D6-C945-4A71-5CA7-6DAFD78A4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9744"/>
            <a:ext cx="4938188" cy="86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447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C8FCFD-7746-7364-420B-F27E56CB2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68" y="487425"/>
            <a:ext cx="10646063" cy="58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430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537</Words>
  <Application>Microsoft Office PowerPoint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MT</vt:lpstr>
      <vt:lpstr>Calibri</vt:lpstr>
      <vt:lpstr>Calibri Light</vt:lpstr>
      <vt:lpstr>Wingdings</vt:lpstr>
      <vt:lpstr>Office Theme</vt:lpstr>
      <vt:lpstr>UiPath API Workflows</vt:lpstr>
      <vt:lpstr>UiPath API Workflows</vt:lpstr>
      <vt:lpstr>Key capabilities of API Workflows</vt:lpstr>
      <vt:lpstr>Why use API Workflows</vt:lpstr>
      <vt:lpstr>API Workflows Activities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Javalekar</dc:creator>
  <cp:lastModifiedBy>Akash Javalekar</cp:lastModifiedBy>
  <cp:revision>1</cp:revision>
  <dcterms:created xsi:type="dcterms:W3CDTF">2026-07-23T09:40:52Z</dcterms:created>
  <dcterms:modified xsi:type="dcterms:W3CDTF">2026-07-23T18:33:30Z</dcterms:modified>
</cp:coreProperties>
</file>